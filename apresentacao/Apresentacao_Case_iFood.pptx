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medio (USD)</c:v>
                </c:pt>
              </c:strCache>
            </c:strRef>
          </c:tx>
          <c:spPr>
            <a:ln w="38100" cap="flat">
              <a:solidFill>
                <a:srgbClr val="EA1D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A1D2C"/>
              </a:solidFill>
              <a:ln w="9525" cap="flat">
                <a:solidFill>
                  <a:srgbClr val="EA1D2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27.46</c:v>
                </c:pt>
                <c:pt idx="1">
                  <c:v>27.37</c:v>
                </c:pt>
                <c:pt idx="2">
                  <c:v>28.28</c:v>
                </c:pt>
                <c:pt idx="3">
                  <c:v>28.78</c:v>
                </c:pt>
                <c:pt idx="4">
                  <c:v>29.45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073-4E69-92AD-7A41AF85A0F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2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de passageiros</c:v>
                </c:pt>
              </c:strCache>
            </c:strRef>
          </c:tx>
          <c:spPr>
            <a:ln w="31750" cap="flat">
              <a:solidFill>
                <a:srgbClr val="EA1D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A1D2C"/>
              </a:solidFill>
              <a:ln w="9525" cap="flat">
                <a:solidFill>
                  <a:srgbClr val="EA1D2C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1.43</c:v>
                </c:pt>
                <c:pt idx="1">
                  <c:v>1.44</c:v>
                </c:pt>
                <c:pt idx="2">
                  <c:v>1.46</c:v>
                </c:pt>
                <c:pt idx="3">
                  <c:v>1.45</c:v>
                </c:pt>
                <c:pt idx="4">
                  <c:v>1.4</c:v>
                </c:pt>
                <c:pt idx="5">
                  <c:v>1.28</c:v>
                </c:pt>
                <c:pt idx="6">
                  <c:v>1.26</c:v>
                </c:pt>
                <c:pt idx="7">
                  <c:v>1.28</c:v>
                </c:pt>
                <c:pt idx="8">
                  <c:v>1.3</c:v>
                </c:pt>
                <c:pt idx="9">
                  <c:v>1.31</c:v>
                </c:pt>
                <c:pt idx="10">
                  <c:v>1.35</c:v>
                </c:pt>
                <c:pt idx="11">
                  <c:v>1.36</c:v>
                </c:pt>
                <c:pt idx="12">
                  <c:v>1.38</c:v>
                </c:pt>
                <c:pt idx="13">
                  <c:v>1.39</c:v>
                </c:pt>
                <c:pt idx="14">
                  <c:v>1.39</c:v>
                </c:pt>
                <c:pt idx="15">
                  <c:v>1.4</c:v>
                </c:pt>
                <c:pt idx="16">
                  <c:v>1.4</c:v>
                </c:pt>
                <c:pt idx="17">
                  <c:v>1.39</c:v>
                </c:pt>
                <c:pt idx="18">
                  <c:v>1.38</c:v>
                </c:pt>
                <c:pt idx="19">
                  <c:v>1.39</c:v>
                </c:pt>
                <c:pt idx="20">
                  <c:v>1.4</c:v>
                </c:pt>
                <c:pt idx="21">
                  <c:v>1.42</c:v>
                </c:pt>
                <c:pt idx="22">
                  <c:v>1.43</c:v>
                </c:pt>
                <c:pt idx="23">
                  <c:v>1.42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CA0-4CCE-BF79-15DC383BF9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5"/>
          <c:min val="1.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Corridas</c:v>
                </c:pt>
              </c:strCache>
            </c:strRef>
          </c:tx>
          <c:spPr>
            <a:solidFill>
              <a:srgbClr val="EA1D2C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88547</c:v>
                </c:pt>
                <c:pt idx="1">
                  <c:v>57501</c:v>
                </c:pt>
                <c:pt idx="2">
                  <c:v>37001</c:v>
                </c:pt>
                <c:pt idx="3">
                  <c:v>24073</c:v>
                </c:pt>
                <c:pt idx="4">
                  <c:v>15726</c:v>
                </c:pt>
                <c:pt idx="5">
                  <c:v>18186</c:v>
                </c:pt>
                <c:pt idx="6">
                  <c:v>45431</c:v>
                </c:pt>
                <c:pt idx="7">
                  <c:v>91710</c:v>
                </c:pt>
                <c:pt idx="8">
                  <c:v>125390</c:v>
                </c:pt>
                <c:pt idx="9">
                  <c:v>140792</c:v>
                </c:pt>
                <c:pt idx="10">
                  <c:v>153473</c:v>
                </c:pt>
                <c:pt idx="11">
                  <c:v>167229</c:v>
                </c:pt>
                <c:pt idx="12">
                  <c:v>180326</c:v>
                </c:pt>
                <c:pt idx="13">
                  <c:v>184462</c:v>
                </c:pt>
                <c:pt idx="14">
                  <c:v>200572</c:v>
                </c:pt>
                <c:pt idx="15">
                  <c:v>204870</c:v>
                </c:pt>
                <c:pt idx="16">
                  <c:v>204992</c:v>
                </c:pt>
                <c:pt idx="17">
                  <c:v>223959</c:v>
                </c:pt>
                <c:pt idx="18">
                  <c:v>237971</c:v>
                </c:pt>
                <c:pt idx="19">
                  <c:v>213682</c:v>
                </c:pt>
                <c:pt idx="20">
                  <c:v>189914</c:v>
                </c:pt>
                <c:pt idx="21">
                  <c:v>194116</c:v>
                </c:pt>
                <c:pt idx="22">
                  <c:v>179479</c:v>
                </c:pt>
                <c:pt idx="23">
                  <c:v>139995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A9-4651-8D3F-77C3595EA5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69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A1D2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kern="0" spc="600" noProof="0" dirty="0">
                <a:solidFill>
                  <a:srgbClr val="EA1D2C"/>
                </a:solidFill>
              </a:rPr>
              <a:t>CASE TÉCNICO</a:t>
            </a:r>
            <a:endParaRPr lang="pt-BR" sz="1600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000" b="1" noProof="0" dirty="0">
                <a:solidFill>
                  <a:srgbClr val="FFFFFF"/>
                </a:solidFill>
              </a:rPr>
              <a:t>Data Architect</a:t>
            </a:r>
            <a:endParaRPr lang="pt-BR" sz="50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pt-BR" sz="1500" noProof="0" dirty="0">
                <a:solidFill>
                  <a:srgbClr val="CFCFCF"/>
                </a:solidFill>
              </a:rPr>
              <a:t>Da ingestão ao insight, com qualidade de dados e governança LGPD</a:t>
            </a:r>
            <a:endParaRPr lang="pt-BR" sz="15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pt-BR" sz="1500" noProof="0" dirty="0">
                <a:solidFill>
                  <a:srgbClr val="CFCFCF"/>
                </a:solidFill>
              </a:rPr>
              <a:t>Arquitetura Medallion - Delta Lake - PySpark + Python +SQL - Databricks</a:t>
            </a:r>
            <a:endParaRPr lang="pt-BR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4937760"/>
            <a:ext cx="2926080" cy="0"/>
          </a:xfrm>
          <a:prstGeom prst="line">
            <a:avLst/>
          </a:prstGeom>
          <a:noFill/>
          <a:ln w="254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FFFFFF"/>
                </a:solidFill>
              </a:rPr>
              <a:t>Carlos Natale</a:t>
            </a:r>
            <a:endParaRPr lang="pt-BR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5440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9A9A9A"/>
                </a:solidFill>
              </a:rPr>
              <a:t>Engenharia de Dados – Governança - 20+ anos em TI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VISAO GERAL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O percurso: 9 etapas, do bruto ao insight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93776"/>
          </a:xfrm>
          <a:prstGeom prst="roundRect">
            <a:avLst>
              <a:gd name="adj" fmla="val 7407"/>
            </a:avLst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</a:rPr>
              <a:t>00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1828800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A1A1A"/>
                </a:solidFill>
              </a:rPr>
              <a:t>Setup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4206240" y="162763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A5A5A"/>
                </a:solidFill>
              </a:rPr>
              <a:t>Catalogo, schemas e Volume</a:t>
            </a:r>
            <a:endParaRPr lang="pt-BR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10241280" y="1645920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EA1D2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10241280" y="16459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</a:rPr>
              <a:t>SQL</a:t>
            </a:r>
            <a:endParaRPr lang="pt-BR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106424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17627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" y="21762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</a:rPr>
              <a:t>01</a:t>
            </a:r>
            <a:endParaRPr lang="pt-BR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182880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A1A1A"/>
                </a:solidFill>
              </a:rPr>
              <a:t>Ingestão</a:t>
            </a:r>
            <a:endParaRPr lang="pt-B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4206240" y="217627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A5A5A"/>
                </a:solidFill>
              </a:rPr>
              <a:t>16,2 mi linhas + armadilha do schema</a:t>
            </a:r>
            <a:endParaRPr lang="pt-BR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10241280" y="2194560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10241280" y="2194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</a:rPr>
              <a:t>PySpark</a:t>
            </a:r>
            <a:endParaRPr lang="pt-BR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548640" y="2651760"/>
            <a:ext cx="11064240" cy="493776"/>
          </a:xfrm>
          <a:prstGeom prst="roundRect">
            <a:avLst>
              <a:gd name="adj" fmla="val 7407"/>
            </a:avLst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7"/>
          <p:cNvSpPr/>
          <p:nvPr/>
        </p:nvSpPr>
        <p:spPr>
          <a:xfrm>
            <a:off x="640080" y="272491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640080" y="27249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</a:rPr>
              <a:t>00b</a:t>
            </a:r>
            <a:endParaRPr lang="pt-B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1828800" y="27249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A1A1A"/>
                </a:solidFill>
              </a:rPr>
              <a:t>Profiling</a:t>
            </a:r>
            <a:endParaRPr lang="pt-BR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4206240" y="272491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A5A5A"/>
                </a:solidFill>
              </a:rPr>
              <a:t>Qualidade da fonte antes da limpeza</a:t>
            </a:r>
            <a:endParaRPr lang="pt-BR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10241280" y="2743200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EA1D2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/>
          <p:nvPr/>
        </p:nvSpPr>
        <p:spPr>
          <a:xfrm>
            <a:off x="1024128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</a:rPr>
              <a:t>SQL</a:t>
            </a:r>
            <a:endParaRPr lang="pt-BR" sz="1000" noProof="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1106424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640080" y="327355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640080" y="32735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</a:rPr>
              <a:t>00c</a:t>
            </a:r>
            <a:endParaRPr lang="pt-BR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1828800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A1A1A"/>
                </a:solidFill>
              </a:rPr>
              <a:t>Exploração</a:t>
            </a:r>
            <a:endParaRPr lang="pt-BR" sz="1300" noProof="0" dirty="0"/>
          </a:p>
        </p:txBody>
      </p:sp>
      <p:sp>
        <p:nvSpPr>
          <p:cNvPr id="29" name="Text 27"/>
          <p:cNvSpPr/>
          <p:nvPr/>
        </p:nvSpPr>
        <p:spPr>
          <a:xfrm>
            <a:off x="4206240" y="327355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A5A5A"/>
                </a:solidFill>
              </a:rPr>
              <a:t>Distribuições que justificam as decisões</a:t>
            </a:r>
            <a:endParaRPr lang="pt-BR" sz="1100" noProof="0" dirty="0"/>
          </a:p>
        </p:txBody>
      </p:sp>
      <p:sp>
        <p:nvSpPr>
          <p:cNvPr id="30" name="Shape 28"/>
          <p:cNvSpPr/>
          <p:nvPr/>
        </p:nvSpPr>
        <p:spPr>
          <a:xfrm>
            <a:off x="10241280" y="3291840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9"/>
          <p:cNvSpPr/>
          <p:nvPr/>
        </p:nvSpPr>
        <p:spPr>
          <a:xfrm>
            <a:off x="10241280" y="32918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</a:rPr>
              <a:t>Python</a:t>
            </a:r>
            <a:endParaRPr lang="pt-BR" sz="1000" noProof="0" dirty="0"/>
          </a:p>
        </p:txBody>
      </p:sp>
      <p:sp>
        <p:nvSpPr>
          <p:cNvPr id="32" name="Shape 30"/>
          <p:cNvSpPr/>
          <p:nvPr/>
        </p:nvSpPr>
        <p:spPr>
          <a:xfrm>
            <a:off x="548640" y="3749040"/>
            <a:ext cx="11064240" cy="493776"/>
          </a:xfrm>
          <a:prstGeom prst="roundRect">
            <a:avLst>
              <a:gd name="adj" fmla="val 7407"/>
            </a:avLst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Shape 31"/>
          <p:cNvSpPr/>
          <p:nvPr/>
        </p:nvSpPr>
        <p:spPr>
          <a:xfrm>
            <a:off x="640080" y="382219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Text 32"/>
          <p:cNvSpPr/>
          <p:nvPr/>
        </p:nvSpPr>
        <p:spPr>
          <a:xfrm>
            <a:off x="640080" y="38221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</a:rPr>
              <a:t>02</a:t>
            </a:r>
            <a:endParaRPr lang="pt-BR" sz="1100" noProof="0" dirty="0"/>
          </a:p>
        </p:txBody>
      </p:sp>
      <p:sp>
        <p:nvSpPr>
          <p:cNvPr id="35" name="Text 33"/>
          <p:cNvSpPr/>
          <p:nvPr/>
        </p:nvSpPr>
        <p:spPr>
          <a:xfrm>
            <a:off x="1828800" y="3822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A1A1A"/>
                </a:solidFill>
              </a:rPr>
              <a:t>Silver</a:t>
            </a:r>
            <a:endParaRPr lang="pt-BR" sz="1300" noProof="0" dirty="0"/>
          </a:p>
        </p:txBody>
      </p:sp>
      <p:sp>
        <p:nvSpPr>
          <p:cNvPr id="36" name="Text 34"/>
          <p:cNvSpPr/>
          <p:nvPr/>
        </p:nvSpPr>
        <p:spPr>
          <a:xfrm>
            <a:off x="4206240" y="382219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A5A5A"/>
                </a:solidFill>
              </a:rPr>
              <a:t>Limpeza, quality gate e quality log</a:t>
            </a:r>
            <a:endParaRPr lang="pt-BR" sz="1100" noProof="0" dirty="0"/>
          </a:p>
        </p:txBody>
      </p:sp>
      <p:sp>
        <p:nvSpPr>
          <p:cNvPr id="37" name="Shape 35"/>
          <p:cNvSpPr/>
          <p:nvPr/>
        </p:nvSpPr>
        <p:spPr>
          <a:xfrm>
            <a:off x="10241280" y="3840480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EA1D2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8" name="Text 36"/>
          <p:cNvSpPr/>
          <p:nvPr/>
        </p:nvSpPr>
        <p:spPr>
          <a:xfrm>
            <a:off x="10241280" y="38404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</a:rPr>
              <a:t>SQL</a:t>
            </a:r>
            <a:endParaRPr lang="pt-BR" sz="1000" noProof="0" dirty="0"/>
          </a:p>
        </p:txBody>
      </p:sp>
      <p:sp>
        <p:nvSpPr>
          <p:cNvPr id="39" name="Shape 37"/>
          <p:cNvSpPr/>
          <p:nvPr/>
        </p:nvSpPr>
        <p:spPr>
          <a:xfrm>
            <a:off x="548640" y="4297680"/>
            <a:ext cx="1106424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38"/>
          <p:cNvSpPr/>
          <p:nvPr/>
        </p:nvSpPr>
        <p:spPr>
          <a:xfrm>
            <a:off x="640080" y="437083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1" name="Text 39"/>
          <p:cNvSpPr/>
          <p:nvPr/>
        </p:nvSpPr>
        <p:spPr>
          <a:xfrm>
            <a:off x="640080" y="43708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</a:rPr>
              <a:t>03</a:t>
            </a:r>
            <a:endParaRPr lang="pt-BR" sz="1100" noProof="0" dirty="0"/>
          </a:p>
        </p:txBody>
      </p:sp>
      <p:sp>
        <p:nvSpPr>
          <p:cNvPr id="42" name="Text 40"/>
          <p:cNvSpPr/>
          <p:nvPr/>
        </p:nvSpPr>
        <p:spPr>
          <a:xfrm>
            <a:off x="1828800" y="4370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A1A1A"/>
                </a:solidFill>
              </a:rPr>
              <a:t>Gold</a:t>
            </a:r>
            <a:endParaRPr lang="pt-BR" sz="1300" noProof="0" dirty="0"/>
          </a:p>
        </p:txBody>
      </p:sp>
      <p:sp>
        <p:nvSpPr>
          <p:cNvPr id="43" name="Text 41"/>
          <p:cNvSpPr/>
          <p:nvPr/>
        </p:nvSpPr>
        <p:spPr>
          <a:xfrm>
            <a:off x="4206240" y="437083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A5A5A"/>
                </a:solidFill>
              </a:rPr>
              <a:t>Consumo e time travel</a:t>
            </a:r>
            <a:endParaRPr lang="pt-BR" sz="1100" noProof="0" dirty="0"/>
          </a:p>
        </p:txBody>
      </p:sp>
      <p:sp>
        <p:nvSpPr>
          <p:cNvPr id="44" name="Shape 42"/>
          <p:cNvSpPr/>
          <p:nvPr/>
        </p:nvSpPr>
        <p:spPr>
          <a:xfrm>
            <a:off x="10241280" y="4389120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EA1D2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5" name="Text 43"/>
          <p:cNvSpPr/>
          <p:nvPr/>
        </p:nvSpPr>
        <p:spPr>
          <a:xfrm>
            <a:off x="10241280" y="43891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</a:rPr>
              <a:t>SQL</a:t>
            </a:r>
            <a:endParaRPr lang="pt-BR" sz="1000" noProof="0" dirty="0"/>
          </a:p>
        </p:txBody>
      </p:sp>
      <p:sp>
        <p:nvSpPr>
          <p:cNvPr id="46" name="Shape 44"/>
          <p:cNvSpPr/>
          <p:nvPr/>
        </p:nvSpPr>
        <p:spPr>
          <a:xfrm>
            <a:off x="548640" y="4846320"/>
            <a:ext cx="11064240" cy="493776"/>
          </a:xfrm>
          <a:prstGeom prst="roundRect">
            <a:avLst>
              <a:gd name="adj" fmla="val 7407"/>
            </a:avLst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7" name="Shape 45"/>
          <p:cNvSpPr/>
          <p:nvPr/>
        </p:nvSpPr>
        <p:spPr>
          <a:xfrm>
            <a:off x="640080" y="491947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8" name="Text 46"/>
          <p:cNvSpPr/>
          <p:nvPr/>
        </p:nvSpPr>
        <p:spPr>
          <a:xfrm>
            <a:off x="640080" y="49194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</a:rPr>
              <a:t>04</a:t>
            </a:r>
            <a:endParaRPr lang="pt-BR" sz="1100" noProof="0" dirty="0"/>
          </a:p>
        </p:txBody>
      </p:sp>
      <p:sp>
        <p:nvSpPr>
          <p:cNvPr id="49" name="Text 47"/>
          <p:cNvSpPr/>
          <p:nvPr/>
        </p:nvSpPr>
        <p:spPr>
          <a:xfrm>
            <a:off x="1828800" y="4919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A1A1A"/>
                </a:solidFill>
              </a:rPr>
              <a:t>Classificação</a:t>
            </a:r>
            <a:endParaRPr lang="pt-BR" sz="1300" noProof="0" dirty="0"/>
          </a:p>
        </p:txBody>
      </p:sp>
      <p:sp>
        <p:nvSpPr>
          <p:cNvPr id="50" name="Text 48"/>
          <p:cNvSpPr/>
          <p:nvPr/>
        </p:nvSpPr>
        <p:spPr>
          <a:xfrm>
            <a:off x="4206240" y="491947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A5A5A"/>
                </a:solidFill>
              </a:rPr>
              <a:t>Governança LGPD dos campos</a:t>
            </a:r>
            <a:endParaRPr lang="pt-BR" sz="1100" noProof="0" dirty="0"/>
          </a:p>
        </p:txBody>
      </p:sp>
      <p:sp>
        <p:nvSpPr>
          <p:cNvPr id="51" name="Shape 49"/>
          <p:cNvSpPr/>
          <p:nvPr/>
        </p:nvSpPr>
        <p:spPr>
          <a:xfrm>
            <a:off x="10241280" y="4937760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EA1D2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2" name="Text 50"/>
          <p:cNvSpPr/>
          <p:nvPr/>
        </p:nvSpPr>
        <p:spPr>
          <a:xfrm>
            <a:off x="10241280" y="49377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</a:rPr>
              <a:t>SQL</a:t>
            </a:r>
            <a:endParaRPr lang="pt-BR" sz="1000" noProof="0" dirty="0"/>
          </a:p>
        </p:txBody>
      </p:sp>
      <p:sp>
        <p:nvSpPr>
          <p:cNvPr id="53" name="Shape 51"/>
          <p:cNvSpPr/>
          <p:nvPr/>
        </p:nvSpPr>
        <p:spPr>
          <a:xfrm>
            <a:off x="548640" y="5394960"/>
            <a:ext cx="1106424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4" name="Shape 52"/>
          <p:cNvSpPr/>
          <p:nvPr/>
        </p:nvSpPr>
        <p:spPr>
          <a:xfrm>
            <a:off x="640080" y="546811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5" name="Text 53"/>
          <p:cNvSpPr/>
          <p:nvPr/>
        </p:nvSpPr>
        <p:spPr>
          <a:xfrm>
            <a:off x="640080" y="54681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</a:rPr>
              <a:t>analysis</a:t>
            </a:r>
            <a:endParaRPr lang="pt-BR" sz="1100" noProof="0" dirty="0"/>
          </a:p>
        </p:txBody>
      </p:sp>
      <p:sp>
        <p:nvSpPr>
          <p:cNvPr id="56" name="Text 54"/>
          <p:cNvSpPr/>
          <p:nvPr/>
        </p:nvSpPr>
        <p:spPr>
          <a:xfrm>
            <a:off x="1828800" y="5468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A1A1A"/>
                </a:solidFill>
              </a:rPr>
              <a:t>Analises</a:t>
            </a:r>
            <a:endParaRPr lang="pt-BR" sz="1300" noProof="0" dirty="0"/>
          </a:p>
        </p:txBody>
      </p:sp>
      <p:sp>
        <p:nvSpPr>
          <p:cNvPr id="57" name="Text 55"/>
          <p:cNvSpPr/>
          <p:nvPr/>
        </p:nvSpPr>
        <p:spPr>
          <a:xfrm>
            <a:off x="4206240" y="546811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A5A5A"/>
                </a:solidFill>
              </a:rPr>
              <a:t>As 2 perguntas do case</a:t>
            </a:r>
            <a:endParaRPr lang="pt-BR" sz="1100" noProof="0" dirty="0"/>
          </a:p>
        </p:txBody>
      </p:sp>
      <p:sp>
        <p:nvSpPr>
          <p:cNvPr id="58" name="Shape 56"/>
          <p:cNvSpPr/>
          <p:nvPr/>
        </p:nvSpPr>
        <p:spPr>
          <a:xfrm>
            <a:off x="10241280" y="5486400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EA1D2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9" name="Text 57"/>
          <p:cNvSpPr/>
          <p:nvPr/>
        </p:nvSpPr>
        <p:spPr>
          <a:xfrm>
            <a:off x="10241280" y="54864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</a:rPr>
              <a:t>SQL</a:t>
            </a:r>
            <a:endParaRPr lang="pt-BR" sz="1000" noProof="0" dirty="0"/>
          </a:p>
        </p:txBody>
      </p:sp>
      <p:sp>
        <p:nvSpPr>
          <p:cNvPr id="60" name="Shape 58"/>
          <p:cNvSpPr/>
          <p:nvPr/>
        </p:nvSpPr>
        <p:spPr>
          <a:xfrm>
            <a:off x="548640" y="5943600"/>
            <a:ext cx="11064240" cy="493776"/>
          </a:xfrm>
          <a:prstGeom prst="roundRect">
            <a:avLst>
              <a:gd name="adj" fmla="val 7407"/>
            </a:avLst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1" name="Shape 59"/>
          <p:cNvSpPr/>
          <p:nvPr/>
        </p:nvSpPr>
        <p:spPr>
          <a:xfrm>
            <a:off x="640080" y="601675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2" name="Text 60"/>
          <p:cNvSpPr/>
          <p:nvPr/>
        </p:nvSpPr>
        <p:spPr>
          <a:xfrm>
            <a:off x="640080" y="60167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</a:rPr>
              <a:t>visual</a:t>
            </a:r>
            <a:endParaRPr lang="pt-BR" sz="1100" noProof="0" dirty="0"/>
          </a:p>
        </p:txBody>
      </p:sp>
      <p:sp>
        <p:nvSpPr>
          <p:cNvPr id="63" name="Text 61"/>
          <p:cNvSpPr/>
          <p:nvPr/>
        </p:nvSpPr>
        <p:spPr>
          <a:xfrm>
            <a:off x="1828800" y="6016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A1A1A"/>
                </a:solidFill>
              </a:rPr>
              <a:t>Visual</a:t>
            </a:r>
            <a:endParaRPr lang="pt-BR" sz="1300" noProof="0" dirty="0"/>
          </a:p>
        </p:txBody>
      </p:sp>
      <p:sp>
        <p:nvSpPr>
          <p:cNvPr id="64" name="Text 62"/>
          <p:cNvSpPr/>
          <p:nvPr/>
        </p:nvSpPr>
        <p:spPr>
          <a:xfrm>
            <a:off x="4206240" y="601675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A5A5A"/>
                </a:solidFill>
              </a:rPr>
              <a:t>Gráficos de qualidade e analise</a:t>
            </a:r>
            <a:endParaRPr lang="pt-BR" sz="1100" noProof="0" dirty="0"/>
          </a:p>
        </p:txBody>
      </p:sp>
      <p:sp>
        <p:nvSpPr>
          <p:cNvPr id="65" name="Shape 63"/>
          <p:cNvSpPr/>
          <p:nvPr/>
        </p:nvSpPr>
        <p:spPr>
          <a:xfrm>
            <a:off x="10241280" y="6035040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6" name="Text 64"/>
          <p:cNvSpPr/>
          <p:nvPr/>
        </p:nvSpPr>
        <p:spPr>
          <a:xfrm>
            <a:off x="10241280" y="6035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</a:rPr>
              <a:t>Python</a:t>
            </a:r>
            <a:endParaRPr lang="pt-BR" sz="1000" noProof="0" dirty="0"/>
          </a:p>
        </p:txBody>
      </p:sp>
      <p:sp>
        <p:nvSpPr>
          <p:cNvPr id="67" name="Text 6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68" name="Text 6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2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ARQUITETURA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Medallion em Delta Lake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1A1A1A"/>
                </a:solidFill>
              </a:rPr>
              <a:t>LANDING</a:t>
            </a:r>
            <a:endParaRPr lang="pt-BR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Parquets</a:t>
            </a:r>
            <a:endParaRPr lang="pt-BR" sz="1200" noProof="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intactos</a:t>
            </a:r>
            <a:endParaRPr lang="pt-B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3063240" y="23774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noProof="0" dirty="0">
                <a:solidFill>
                  <a:srgbClr val="8A8A8A"/>
                </a:solidFill>
              </a:rPr>
              <a:t>→</a:t>
            </a:r>
            <a:endParaRPr lang="pt-BR" sz="2400" noProof="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ADBD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1A1A1A"/>
                </a:solidFill>
              </a:rPr>
              <a:t>BRONZE</a:t>
            </a:r>
            <a:endParaRPr lang="pt-BR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3474720" y="2651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Raw + linhagem</a:t>
            </a:r>
            <a:endParaRPr lang="pt-BR" sz="1200" noProof="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16,2 mi</a:t>
            </a:r>
            <a:endParaRPr lang="pt-BR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5989320" y="23774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noProof="0" dirty="0">
                <a:solidFill>
                  <a:srgbClr val="8A8A8A"/>
                </a:solidFill>
              </a:rPr>
              <a:t>→</a:t>
            </a:r>
            <a:endParaRPr lang="pt-BR" sz="240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5B7B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1A1A1A"/>
                </a:solidFill>
              </a:rPr>
              <a:t>SILVER</a:t>
            </a:r>
            <a:endParaRPr lang="pt-BR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Limpo, tipado</a:t>
            </a:r>
            <a:endParaRPr lang="pt-BR" sz="1200" noProof="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15,3 mi</a:t>
            </a:r>
            <a:endParaRPr lang="pt-BR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8915400" y="23774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noProof="0" dirty="0">
                <a:solidFill>
                  <a:srgbClr val="8A8A8A"/>
                </a:solidFill>
              </a:rPr>
              <a:t>→</a:t>
            </a:r>
            <a:endParaRPr lang="pt-BR" sz="2400" noProof="0" dirty="0"/>
          </a:p>
        </p:txBody>
      </p:sp>
      <p:sp>
        <p:nvSpPr>
          <p:cNvPr id="16" name="Shape 14"/>
          <p:cNvSpPr/>
          <p:nvPr/>
        </p:nvSpPr>
        <p:spPr>
          <a:xfrm>
            <a:off x="9326880" y="19202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EA1D2C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932688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</a:rPr>
              <a:t>GOLD</a:t>
            </a:r>
            <a:endParaRPr lang="pt-BR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9326880" y="2651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FFFFFF"/>
                </a:solidFill>
              </a:rPr>
              <a:t>Consumo +</a:t>
            </a:r>
            <a:endParaRPr lang="pt-BR" sz="1200" noProof="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FFFFFF"/>
                </a:solidFill>
              </a:rPr>
              <a:t>classificação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278892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EA1D2C"/>
                </a:solidFill>
              </a:rPr>
              <a:t>PySpark</a:t>
            </a:r>
            <a:endParaRPr lang="pt-B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585216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EA1D2C"/>
                </a:solidFill>
              </a:rPr>
              <a:t>SQL</a:t>
            </a:r>
            <a:endParaRPr lang="pt-B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877824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EA1D2C"/>
                </a:solidFill>
              </a:rPr>
              <a:t>SQL</a:t>
            </a:r>
            <a:endParaRPr lang="pt-BR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pt-BR" sz="1300" noProof="0" dirty="0">
                <a:solidFill>
                  <a:srgbClr val="1A1A1A"/>
                </a:solidFill>
              </a:rPr>
              <a:t>Separação de responsabilidades por camada</a:t>
            </a:r>
            <a:endParaRPr lang="pt-BR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pt-BR" sz="1300" noProof="0" dirty="0">
                <a:solidFill>
                  <a:srgbClr val="1A1A1A"/>
                </a:solidFill>
              </a:rPr>
              <a:t>Reprocessamento sem tocar na fonte original</a:t>
            </a:r>
            <a:endParaRPr lang="pt-BR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pt-BR" sz="1300" noProof="0" dirty="0">
                <a:solidFill>
                  <a:srgbClr val="1A1A1A"/>
                </a:solidFill>
              </a:rPr>
              <a:t>Delta Lake: ACID, time travel e schema enforcement</a:t>
            </a:r>
            <a:endParaRPr lang="pt-BR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pt-BR" sz="1300" noProof="0" dirty="0">
                <a:solidFill>
                  <a:srgbClr val="1A1A1A"/>
                </a:solidFill>
              </a:rPr>
              <a:t>Governança e linhagem de ponta a ponta</a:t>
            </a:r>
            <a:endParaRPr lang="pt-BR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3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ETAPAS 00 E 01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Setup e ingestão em PySpark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384048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915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EA1D2C"/>
                </a:solidFill>
              </a:rPr>
              <a:t>ARQUIVO 00 + 01   </a:t>
            </a:r>
            <a:r>
              <a:rPr lang="pt-BR" sz="1000" noProof="0" dirty="0">
                <a:solidFill>
                  <a:srgbClr val="FFFFFF"/>
                </a:solidFill>
              </a:rPr>
              <a:t>00_setup / 01_ingestion</a:t>
            </a:r>
            <a:endParaRPr lang="pt-BR" sz="10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100" noProof="0" dirty="0">
                <a:solidFill>
                  <a:srgbClr val="EA1D2C"/>
                </a:solidFill>
              </a:rPr>
              <a:t>SETUP (00_setup)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pt-BR" sz="1200" noProof="0" dirty="0">
                <a:solidFill>
                  <a:srgbClr val="1A1A1A"/>
                </a:solidFill>
              </a:rPr>
              <a:t>Catalogo ifood_case no Unity Catalog</a:t>
            </a:r>
            <a:endParaRPr lang="pt-BR" sz="12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pt-BR" sz="1200" noProof="0" dirty="0">
                <a:solidFill>
                  <a:srgbClr val="1A1A1A"/>
                </a:solidFill>
              </a:rPr>
              <a:t>3 schemas: bronze, silver, gold</a:t>
            </a:r>
            <a:endParaRPr lang="pt-BR" sz="12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pt-BR" sz="1200" noProof="0" dirty="0">
                <a:solidFill>
                  <a:srgbClr val="1A1A1A"/>
                </a:solidFill>
              </a:rPr>
              <a:t>Volume para a landing zone (Parquets)</a:t>
            </a:r>
            <a:endParaRPr lang="pt-BR" sz="12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pt-BR" sz="1200" noProof="0" dirty="0">
                <a:solidFill>
                  <a:srgbClr val="1A1A1A"/>
                </a:solidFill>
              </a:rPr>
              <a:t>IF NOT EXISTS em tudo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100" noProof="0" dirty="0">
                <a:solidFill>
                  <a:srgbClr val="EA1D2C"/>
                </a:solidFill>
              </a:rPr>
              <a:t>INGESTAO (01_ingestion) - PySpark</a:t>
            </a:r>
            <a:endParaRPr lang="pt-B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pt-BR" sz="1300" noProof="0" dirty="0">
                <a:solidFill>
                  <a:srgbClr val="CFC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 3.066.766      Fev  2.913.955</a:t>
            </a:r>
            <a:endParaRPr lang="pt-BR" sz="13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1300" noProof="0" dirty="0">
                <a:solidFill>
                  <a:srgbClr val="CFC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 3.403.766      Abr  3.288.250</a:t>
            </a:r>
            <a:endParaRPr lang="pt-BR" sz="13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1300" noProof="0" dirty="0">
                <a:solidFill>
                  <a:srgbClr val="CFC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  3.513.649</a:t>
            </a:r>
            <a:endParaRPr lang="pt-BR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644652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FFFFFF"/>
                </a:solidFill>
              </a:rPr>
              <a:t>Bronze total: 16.186.386 linhas</a:t>
            </a:r>
            <a:endParaRPr lang="pt-BR" sz="1500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100" noProof="0" dirty="0">
                <a:solidFill>
                  <a:srgbClr val="EA1D2C"/>
                </a:solidFill>
              </a:rPr>
              <a:t>A ARMADILHA DO SCHEMA (principal diferencial técnico)</a:t>
            </a:r>
            <a:endParaRPr lang="pt-B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4114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pt-BR" sz="1300" noProof="0" dirty="0">
                <a:solidFill>
                  <a:srgbClr val="1A1A1A"/>
                </a:solidFill>
              </a:rPr>
              <a:t>passenger_count vem como INT em alguns meses e DOUBLE em outros. Impor schema não resolve: o leitor vetorizado do Spark recusa o cast, e a config enableVectorizedReader=false não existe no serverless da Free Edition.</a:t>
            </a:r>
            <a:endParaRPr lang="pt-BR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7315200" y="4114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pt-BR" sz="1200" b="1" noProof="0" dirty="0">
                <a:solidFill>
                  <a:srgbClr val="1B7A3E"/>
                </a:solidFill>
              </a:rPr>
              <a:t>Solução: ler cada arquivo, cast explícito</a:t>
            </a:r>
            <a:endParaRPr lang="pt-BR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1200" b="1" noProof="0" dirty="0">
                <a:solidFill>
                  <a:srgbClr val="1B7A3E"/>
                </a:solidFill>
              </a:rPr>
              <a:t>coluna a coluna, unir com unionByName.</a:t>
            </a:r>
            <a:endParaRPr lang="pt-BR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7315200" y="4892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000" noProof="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path in arquivos:</a:t>
            </a:r>
            <a:endParaRPr lang="pt-BR" sz="1000" noProof="0" dirty="0"/>
          </a:p>
          <a:p>
            <a:pPr marL="0" indent="0">
              <a:lnSpc>
                <a:spcPct val="110000"/>
              </a:lnSpc>
              <a:buNone/>
            </a:pPr>
            <a:r>
              <a:rPr lang="pt-BR" sz="1000" noProof="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 = spark.read.parquet(path).select(</a:t>
            </a:r>
            <a:endParaRPr lang="pt-BR" sz="1000" noProof="0" dirty="0"/>
          </a:p>
          <a:p>
            <a:pPr marL="0" indent="0">
              <a:lnSpc>
                <a:spcPct val="110000"/>
              </a:lnSpc>
              <a:buNone/>
            </a:pPr>
            <a:r>
              <a:rPr lang="pt-BR" sz="1000" noProof="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F.col('passenger_count').cast('double'), ...)</a:t>
            </a:r>
            <a:endParaRPr lang="pt-BR" sz="1000" noProof="0" dirty="0"/>
          </a:p>
          <a:p>
            <a:pPr marL="0" indent="0">
              <a:lnSpc>
                <a:spcPct val="110000"/>
              </a:lnSpc>
              <a:buNone/>
            </a:pPr>
            <a:r>
              <a:rPr lang="pt-BR" sz="1000" noProof="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reduce(unionByName, dfs)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4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ETAPA 00B - QUALIDADE DE DADOS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Profiling: o que havia na fonte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384048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915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EA1D2C"/>
                </a:solidFill>
              </a:rPr>
              <a:t>ARQUIVO 00b   </a:t>
            </a:r>
            <a:r>
              <a:rPr lang="pt-BR" sz="1000" noProof="0" dirty="0">
                <a:solidFill>
                  <a:srgbClr val="FFFFFF"/>
                </a:solidFill>
              </a:rPr>
              <a:t>00b_profiling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5A5A5A"/>
                </a:solidFill>
              </a:rPr>
              <a:t>Análise da Bronze ANTES da limpeza. Cada problema vira uma regra de limpeza justificada.</a:t>
            </a:r>
            <a:endParaRPr lang="pt-B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100" b="1" noProof="0" dirty="0">
                <a:solidFill>
                  <a:srgbClr val="B45309"/>
                </a:solidFill>
              </a:rPr>
              <a:t>428.665</a:t>
            </a:r>
            <a:endParaRPr lang="pt-BR" sz="21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1A1A1A"/>
                </a:solidFill>
              </a:rPr>
              <a:t>nulos passenger_count</a:t>
            </a:r>
            <a:endParaRPr lang="pt-B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2816352" y="196596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2816352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100" b="1" noProof="0" dirty="0">
                <a:solidFill>
                  <a:srgbClr val="B45309"/>
                </a:solidFill>
              </a:rPr>
              <a:t>273.481</a:t>
            </a:r>
            <a:endParaRPr lang="pt-BR" sz="2100" noProof="0" dirty="0"/>
          </a:p>
        </p:txBody>
      </p:sp>
      <p:sp>
        <p:nvSpPr>
          <p:cNvPr id="12" name="Text 10"/>
          <p:cNvSpPr/>
          <p:nvPr/>
        </p:nvSpPr>
        <p:spPr>
          <a:xfrm>
            <a:off x="2816352" y="26974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1A1A1A"/>
                </a:solidFill>
              </a:rPr>
              <a:t>passageiro = 0</a:t>
            </a:r>
            <a:endParaRPr lang="pt-B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5084064" y="196596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5084064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100" b="1" noProof="0" dirty="0">
                <a:solidFill>
                  <a:srgbClr val="EA1D2C"/>
                </a:solidFill>
              </a:rPr>
              <a:t>141.407</a:t>
            </a:r>
            <a:endParaRPr lang="pt-BR" sz="2100" noProof="0" dirty="0"/>
          </a:p>
        </p:txBody>
      </p:sp>
      <p:sp>
        <p:nvSpPr>
          <p:cNvPr id="15" name="Text 13"/>
          <p:cNvSpPr/>
          <p:nvPr/>
        </p:nvSpPr>
        <p:spPr>
          <a:xfrm>
            <a:off x="5084064" y="26974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1A1A1A"/>
                </a:solidFill>
              </a:rPr>
              <a:t>valores negativos</a:t>
            </a:r>
            <a:endParaRPr lang="pt-BR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7351776" y="196596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E3F0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7351776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100" b="1" noProof="0" dirty="0">
                <a:solidFill>
                  <a:srgbClr val="1565C0"/>
                </a:solidFill>
              </a:rPr>
              <a:t>6.181</a:t>
            </a:r>
            <a:endParaRPr lang="pt-BR" sz="2100" noProof="0" dirty="0"/>
          </a:p>
        </p:txBody>
      </p:sp>
      <p:sp>
        <p:nvSpPr>
          <p:cNvPr id="18" name="Text 16"/>
          <p:cNvSpPr/>
          <p:nvPr/>
        </p:nvSpPr>
        <p:spPr>
          <a:xfrm>
            <a:off x="7351776" y="26974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1A1A1A"/>
                </a:solidFill>
              </a:rPr>
              <a:t>timestamps invertidos</a:t>
            </a:r>
            <a:endParaRPr lang="pt-BR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9619488" y="196596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9619488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100" b="1" noProof="0" dirty="0">
                <a:solidFill>
                  <a:srgbClr val="5A5A5A"/>
                </a:solidFill>
              </a:rPr>
              <a:t>104</a:t>
            </a:r>
            <a:endParaRPr lang="pt-BR" sz="2100" noProof="0" dirty="0"/>
          </a:p>
        </p:txBody>
      </p:sp>
      <p:sp>
        <p:nvSpPr>
          <p:cNvPr id="21" name="Text 19"/>
          <p:cNvSpPr/>
          <p:nvPr/>
        </p:nvSpPr>
        <p:spPr>
          <a:xfrm>
            <a:off x="9619488" y="26974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sz="1100" noProof="0" dirty="0">
                <a:solidFill>
                  <a:srgbClr val="1A1A1A"/>
                </a:solidFill>
              </a:rPr>
              <a:t>fora do período</a:t>
            </a:r>
            <a:endParaRPr lang="pt-B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777240" y="3794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300" noProof="0" dirty="0">
                <a:solidFill>
                  <a:srgbClr val="EA1D2C"/>
                </a:solidFill>
              </a:rPr>
              <a:t>Amplitude temporal real: 2001-01-01 a 2023-09-05  -  datas de outros anos e meses confirmam a necessidade do filtro de janela.</a:t>
            </a:r>
            <a:endParaRPr lang="pt-BR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777240" y="4800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A"/>
                </a:solidFill>
              </a:rPr>
              <a:t>Valores de total_amount</a:t>
            </a:r>
            <a:endParaRPr lang="pt-BR" sz="1200" noProof="0" dirty="0"/>
          </a:p>
        </p:txBody>
      </p:sp>
      <p:sp>
        <p:nvSpPr>
          <p:cNvPr id="26" name="Text 24"/>
          <p:cNvSpPr/>
          <p:nvPr/>
        </p:nvSpPr>
        <p:spPr>
          <a:xfrm>
            <a:off x="777240" y="5120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pt-BR" sz="1100" noProof="0" dirty="0">
                <a:solidFill>
                  <a:srgbClr val="1A1A1A"/>
                </a:solidFill>
              </a:rPr>
              <a:t>Min: -US$ 982,95 (estorno)    Max: US$ 6.304,90    Media: US$ 27,84</a:t>
            </a:r>
            <a:endParaRPr lang="pt-BR" sz="1100" noProof="0" dirty="0"/>
          </a:p>
        </p:txBody>
      </p:sp>
      <p:sp>
        <p:nvSpPr>
          <p:cNvPr id="27" name="Shape 25"/>
          <p:cNvSpPr/>
          <p:nvPr/>
        </p:nvSpPr>
        <p:spPr>
          <a:xfrm>
            <a:off x="6217920" y="46634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E8F5E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6"/>
          <p:cNvSpPr/>
          <p:nvPr/>
        </p:nvSpPr>
        <p:spPr>
          <a:xfrm>
            <a:off x="6446520" y="4800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B7A3E"/>
                </a:solidFill>
              </a:rPr>
              <a:t>Conclusão</a:t>
            </a:r>
            <a:endParaRPr lang="pt-BR" sz="1200" noProof="0" dirty="0"/>
          </a:p>
        </p:txBody>
      </p:sp>
      <p:sp>
        <p:nvSpPr>
          <p:cNvPr id="29" name="Text 27"/>
          <p:cNvSpPr/>
          <p:nvPr/>
        </p:nvSpPr>
        <p:spPr>
          <a:xfrm>
            <a:off x="6446520" y="5120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pt-BR" sz="1100" noProof="0" dirty="0">
                <a:solidFill>
                  <a:srgbClr val="1A1A1A"/>
                </a:solidFill>
              </a:rPr>
              <a:t>94,76% dos dados são aproveitáveis. Nenhuma regra de limpeza é arbitraria: cada uma tem evidência quantitativa.</a:t>
            </a:r>
            <a:endParaRPr lang="pt-BR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5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ETAPA 00C - ANÁLISE EXPLORATÓRIA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Exploração: o que justifica cada decisão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384048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915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EA1D2C"/>
                </a:solidFill>
              </a:rPr>
              <a:t>ARQUIVO 00c   </a:t>
            </a:r>
            <a:r>
              <a:rPr lang="pt-BR" sz="1000" noProof="0" dirty="0">
                <a:solidFill>
                  <a:srgbClr val="FFFFFF"/>
                </a:solidFill>
              </a:rPr>
              <a:t>00c_exploration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5A5A5A"/>
                </a:solidFill>
              </a:rPr>
              <a:t>Antes de construir as queries, explorei o domínio. Cada distribuição sustenta uma decisão técnica.</a:t>
            </a:r>
            <a:endParaRPr lang="pt-BR" sz="1300" noProof="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32140"/>
              </p:ext>
            </p:extLst>
          </p:nvPr>
        </p:nvGraphicFramePr>
        <p:xfrm>
          <a:off x="457200" y="2011680"/>
          <a:ext cx="11247120" cy="15544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</a:rPr>
                        <a:t>Exploração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</a:rPr>
                        <a:t>Evidencia real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</a:rPr>
                        <a:t>Decisão sustentada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EA1D2C"/>
                          </a:solidFill>
                        </a:rPr>
                        <a:t>VendorID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A"/>
                          </a:solidFill>
                        </a:rPr>
                        <a:t>Vendor 2 = 73%, Vendor 1 = 27%, Vendor 6 ~0%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A"/>
                          </a:solidFill>
                        </a:rPr>
                        <a:t>vendor_id = IDENTIFIER/INTERNAL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EA1D2C"/>
                          </a:solidFill>
                        </a:rPr>
                        <a:t>passenger_count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A"/>
                          </a:solidFill>
                        </a:rPr>
                        <a:t>1 passageiro = 11,9 mi (73,5% das corridas)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A"/>
                          </a:solidFill>
                        </a:rPr>
                        <a:t>Modal individual; filtros nulo e zero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EA1D2C"/>
                          </a:solidFill>
                        </a:rPr>
                        <a:t>total_amount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A"/>
                          </a:solidFill>
                        </a:rPr>
                        <a:t>Mediana 20,60 &lt; Media 27,84 (assimétrica)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A"/>
                          </a:solidFill>
                        </a:rPr>
                        <a:t>Filtro &gt;= 0; duas interpretações P1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EA1D2C"/>
                          </a:solidFill>
                        </a:rPr>
                        <a:t>Distância x valor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A"/>
                          </a:solidFill>
                        </a:rPr>
                        <a:t>Correlação = 0,93 (forte e positiva)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A"/>
                          </a:solidFill>
                        </a:rPr>
                        <a:t>total_amount confiável p/ faturamento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EA1D2C"/>
                          </a:solidFill>
                        </a:rPr>
                        <a:t>Bronze vs Silver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A"/>
                          </a:solidFill>
                        </a:rPr>
                        <a:t>Tendencia de alta preservada apos limpeza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A"/>
                          </a:solidFill>
                        </a:rPr>
                        <a:t>Limpeza removeu ruido sem distorcer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21208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E8F5E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685800" y="5321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B7A3E"/>
                </a:solidFill>
              </a:rPr>
              <a:t>Por que isso importa</a:t>
            </a:r>
            <a:endParaRPr lang="pt-BR" sz="1200" noProof="0" dirty="0"/>
          </a:p>
        </p:txBody>
      </p:sp>
      <p:sp>
        <p:nvSpPr>
          <p:cNvPr id="10" name="Text 7"/>
          <p:cNvSpPr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pt-BR" sz="1200" noProof="0" dirty="0">
                <a:solidFill>
                  <a:srgbClr val="1A1A1A"/>
                </a:solidFill>
              </a:rPr>
              <a:t>Cada query e cada regra de limpeza tem origem em uma evidência exploratória, não apenas no enunciado</a:t>
            </a:r>
            <a:r>
              <a:rPr lang="pt-BR" sz="1200" dirty="0">
                <a:solidFill>
                  <a:srgbClr val="1A1A1A"/>
                </a:solidFill>
              </a:rPr>
              <a:t>. Resposta é visual e fundamentada de 'como </a:t>
            </a:r>
            <a:r>
              <a:rPr lang="pt-BR" sz="1200" noProof="0" dirty="0">
                <a:solidFill>
                  <a:srgbClr val="1A1A1A"/>
                </a:solidFill>
              </a:rPr>
              <a:t>cheguei nessas queries'</a:t>
            </a:r>
            <a:endParaRPr lang="pt-BR" sz="1200" noProof="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12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ETAPA 02 - QUALIDADE DE DADOS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Silver: limpeza, quality gate e log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384048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915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EA1D2C"/>
                </a:solidFill>
              </a:rPr>
              <a:t>ARQUIVO 02   </a:t>
            </a:r>
            <a:r>
              <a:rPr lang="pt-BR" sz="1000" noProof="0" dirty="0">
                <a:solidFill>
                  <a:srgbClr val="FFFFFF"/>
                </a:solidFill>
              </a:rPr>
              <a:t>02_silver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A1A1A"/>
                </a:solidFill>
              </a:rPr>
              <a:t>Regras aplicadas (cada uma justificada pelo profiling):</a:t>
            </a:r>
            <a:endParaRPr lang="pt-B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157984" cy="868680"/>
          </a:xfrm>
          <a:prstGeom prst="roundRect">
            <a:avLst>
              <a:gd name="adj" fmla="val 6316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000" b="1" noProof="0" dirty="0">
                <a:solidFill>
                  <a:srgbClr val="1A1A1A"/>
                </a:solidFill>
              </a:rPr>
              <a:t>passenger IS NOT NULL</a:t>
            </a:r>
            <a:endParaRPr lang="pt-BR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EA1D2C"/>
                </a:solidFill>
              </a:rPr>
              <a:t>-428.665</a:t>
            </a:r>
            <a:endParaRPr lang="pt-B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2816352" y="1874520"/>
            <a:ext cx="2157984" cy="868680"/>
          </a:xfrm>
          <a:prstGeom prst="roundRect">
            <a:avLst>
              <a:gd name="adj" fmla="val 6316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2907792" y="19659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000" b="1" noProof="0" dirty="0">
                <a:solidFill>
                  <a:srgbClr val="1A1A1A"/>
                </a:solidFill>
              </a:rPr>
              <a:t>passenger &gt; 0</a:t>
            </a:r>
            <a:endParaRPr lang="pt-BR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2907792" y="23774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EA1D2C"/>
                </a:solidFill>
              </a:rPr>
              <a:t>-273.481</a:t>
            </a:r>
            <a:endParaRPr lang="pt-B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5084064" y="1874520"/>
            <a:ext cx="2157984" cy="868680"/>
          </a:xfrm>
          <a:prstGeom prst="roundRect">
            <a:avLst>
              <a:gd name="adj" fmla="val 6316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5175504" y="19659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000" b="1" noProof="0" dirty="0">
                <a:solidFill>
                  <a:srgbClr val="1A1A1A"/>
                </a:solidFill>
              </a:rPr>
              <a:t>total_amount &gt;= 0</a:t>
            </a:r>
            <a:endParaRPr lang="pt-BR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5175504" y="23774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EA1D2C"/>
                </a:solidFill>
              </a:rPr>
              <a:t>-141.407</a:t>
            </a:r>
            <a:endParaRPr lang="pt-BR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7351776" y="1874520"/>
            <a:ext cx="2157984" cy="868680"/>
          </a:xfrm>
          <a:prstGeom prst="roundRect">
            <a:avLst>
              <a:gd name="adj" fmla="val 6316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7443216" y="19659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000" b="1" noProof="0" dirty="0">
                <a:solidFill>
                  <a:srgbClr val="1A1A1A"/>
                </a:solidFill>
              </a:rPr>
              <a:t>dropoff &gt; pickup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7443216" y="23774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EA1D2C"/>
                </a:solidFill>
              </a:rPr>
              <a:t>-6.181</a:t>
            </a:r>
            <a:endParaRPr lang="pt-BR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9619488" y="1874520"/>
            <a:ext cx="2157984" cy="868680"/>
          </a:xfrm>
          <a:prstGeom prst="roundRect">
            <a:avLst>
              <a:gd name="adj" fmla="val 6316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9710928" y="19659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000" b="1" noProof="0" dirty="0">
                <a:solidFill>
                  <a:srgbClr val="1A1A1A"/>
                </a:solidFill>
              </a:rPr>
              <a:t>janela jan-mai/2023</a:t>
            </a:r>
            <a:endParaRPr lang="pt-BR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9710928" y="23774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EA1D2C"/>
                </a:solidFill>
              </a:rPr>
              <a:t>-104</a:t>
            </a:r>
            <a:endParaRPr lang="pt-B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7772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EA1D2C"/>
                </a:solidFill>
              </a:rPr>
              <a:t>RESULTADO</a:t>
            </a:r>
            <a:endParaRPr lang="pt-BR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777240" y="3429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pt-BR" sz="140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Bronze:  16.186.386</a:t>
            </a:r>
            <a:endParaRPr lang="pt-BR" sz="14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140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Silver:   15.337.137</a:t>
            </a:r>
            <a:endParaRPr lang="pt-BR" sz="14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140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Aproveitamento: 94,76%</a:t>
            </a:r>
            <a:endParaRPr lang="pt-BR" sz="1400" noProof="0" dirty="0"/>
          </a:p>
        </p:txBody>
      </p:sp>
      <p:sp>
        <p:nvSpPr>
          <p:cNvPr id="25" name="Shape 23"/>
          <p:cNvSpPr/>
          <p:nvPr/>
        </p:nvSpPr>
        <p:spPr>
          <a:xfrm>
            <a:off x="621792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8F5E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644652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1B7A3E"/>
                </a:solidFill>
              </a:rPr>
              <a:t>QUALITY GATE</a:t>
            </a:r>
            <a:endParaRPr lang="pt-BR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6446520" y="3474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B7A3E"/>
                </a:solidFill>
              </a:rPr>
              <a:t>0</a:t>
            </a:r>
            <a:r>
              <a:rPr lang="pt-BR" sz="1200" noProof="0" dirty="0">
                <a:solidFill>
                  <a:srgbClr val="1A1A1A"/>
                </a:solidFill>
              </a:rPr>
              <a:t>  negativos    </a:t>
            </a:r>
            <a:r>
              <a:rPr lang="pt-BR" sz="2800" b="1" noProof="0" dirty="0">
                <a:solidFill>
                  <a:srgbClr val="1B7A3E"/>
                </a:solidFill>
              </a:rPr>
              <a:t>0</a:t>
            </a:r>
            <a:r>
              <a:rPr lang="pt-BR" sz="1200" noProof="0" dirty="0">
                <a:solidFill>
                  <a:srgbClr val="1A1A1A"/>
                </a:solidFill>
              </a:rPr>
              <a:t>  pax&lt;=0    </a:t>
            </a:r>
            <a:r>
              <a:rPr lang="pt-BR" sz="2800" b="1" noProof="0" dirty="0">
                <a:solidFill>
                  <a:srgbClr val="1B7A3E"/>
                </a:solidFill>
              </a:rPr>
              <a:t>0</a:t>
            </a:r>
            <a:r>
              <a:rPr lang="pt-BR" sz="1200" noProof="0" dirty="0">
                <a:solidFill>
                  <a:srgbClr val="1A1A1A"/>
                </a:solidFill>
              </a:rPr>
              <a:t>  tempo</a:t>
            </a:r>
            <a:endParaRPr lang="pt-BR" sz="2800" noProof="0" dirty="0"/>
          </a:p>
        </p:txBody>
      </p:sp>
      <p:sp>
        <p:nvSpPr>
          <p:cNvPr id="28" name="Text 26"/>
          <p:cNvSpPr/>
          <p:nvPr/>
        </p:nvSpPr>
        <p:spPr>
          <a:xfrm>
            <a:off x="6446520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1A1A1A"/>
                </a:solidFill>
              </a:rPr>
              <a:t>Zero violações após a limpeza</a:t>
            </a:r>
            <a:endParaRPr lang="pt-BR" sz="1100" noProof="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Text 28"/>
          <p:cNvSpPr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EA1D2C"/>
                </a:solidFill>
              </a:rPr>
              <a:t>QUALITY LOG - o diferencial de governança</a:t>
            </a:r>
            <a:endParaRPr lang="pt-BR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777240" y="4983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pt-BR" sz="1300" noProof="0" dirty="0">
                <a:solidFill>
                  <a:srgbClr val="1A1A1A"/>
                </a:solidFill>
              </a:rPr>
              <a:t>Cada execução é persistida numa tabela Delta. Duas cargas registradas (26 e 27/06), mesmo resultado: prova que o pipeline é reprodutível e a qualidade é auditável ao longo do tempo. Não é um teste pontual, é um histórico.</a:t>
            </a:r>
            <a:endParaRPr lang="pt-BR" sz="1300" noProof="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7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ETAPA 03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Gold: consumo e time travel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384048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915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EA1D2C"/>
                </a:solidFill>
              </a:rPr>
              <a:t>ARQUIVO 03   </a:t>
            </a:r>
            <a:r>
              <a:rPr lang="pt-BR" sz="1000" noProof="0" dirty="0">
                <a:solidFill>
                  <a:srgbClr val="FFFFFF"/>
                </a:solidFill>
              </a:rPr>
              <a:t>03_gold</a:t>
            </a:r>
            <a:endParaRPr lang="pt-BR" sz="10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100" noProof="0" dirty="0">
                <a:solidFill>
                  <a:srgbClr val="EA1D2C"/>
                </a:solidFill>
              </a:rPr>
              <a:t>TABELAS DE CONSUMO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pt-BR" sz="1300" b="1" noProof="0" dirty="0">
                <a:solidFill>
                  <a:srgbClr val="1A1A1A"/>
                </a:solidFill>
              </a:rPr>
              <a:t>gold.receita_mensal</a:t>
            </a:r>
            <a:endParaRPr lang="pt-BR" sz="13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100" noProof="0" dirty="0">
                <a:solidFill>
                  <a:srgbClr val="5A5A5A"/>
                </a:solidFill>
              </a:rPr>
              <a:t>receita total e ticket médio por mês</a:t>
            </a:r>
            <a:endParaRPr lang="pt-BR" sz="1300" noProof="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pt-BR" sz="1300" b="1" noProof="0" dirty="0">
                <a:solidFill>
                  <a:srgbClr val="1A1A1A"/>
                </a:solidFill>
              </a:rPr>
              <a:t>gold.passageiros_por_hora</a:t>
            </a:r>
            <a:endParaRPr lang="pt-BR" sz="13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100" noProof="0" dirty="0">
                <a:solidFill>
                  <a:srgbClr val="5A5A5A"/>
                </a:solidFill>
              </a:rPr>
              <a:t>média de passageiros por hora do dia</a:t>
            </a:r>
            <a:endParaRPr lang="pt-BR" sz="13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pt-BR" sz="1100" i="1" noProof="0" dirty="0">
                <a:solidFill>
                  <a:srgbClr val="1A1A1A"/>
                </a:solidFill>
              </a:rPr>
              <a:t>O usuário consome via SQL, sem conhecer as camadas anteriores.</a:t>
            </a:r>
            <a:endParaRPr lang="pt-B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100" noProof="0" dirty="0">
                <a:solidFill>
                  <a:srgbClr val="EA1D2C"/>
                </a:solidFill>
              </a:rPr>
              <a:t>TIME TRAVEL (Delta Lake)</a:t>
            </a:r>
            <a:endParaRPr lang="pt-B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pt-BR" sz="1200" noProof="0" dirty="0">
                <a:solidFill>
                  <a:srgbClr val="CFCFCF"/>
                </a:solidFill>
              </a:rPr>
              <a:t>DESCRIBE HISTORY mostra todas as versões da tabela. VERSION AS OF permite consultar qualquer estado anterior.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446520" y="2971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silver.yellow_trips</a:t>
            </a:r>
            <a:endParaRPr lang="pt-BR" sz="1100" noProof="0" dirty="0"/>
          </a:p>
          <a:p>
            <a:pPr marL="0" indent="0">
              <a:buNone/>
            </a:pPr>
            <a:r>
              <a:rPr lang="pt-BR" sz="1100" noProof="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 AS OF 0;</a:t>
            </a:r>
            <a:endParaRPr lang="pt-B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644652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i="1" noProof="0" dirty="0">
                <a:solidFill>
                  <a:srgbClr val="1B7A3E"/>
                </a:solidFill>
              </a:rPr>
              <a:t>Em caso de incidente, restauro o estado exato antes da falha.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42062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B45309"/>
                </a:solidFill>
              </a:rPr>
              <a:t>Auditoria e recuperação de ponta a ponta</a:t>
            </a:r>
            <a:endParaRPr lang="pt-BR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pt-BR" sz="1300" noProof="0" dirty="0">
                <a:solidFill>
                  <a:srgbClr val="1A1A1A"/>
                </a:solidFill>
              </a:rPr>
              <a:t>A combinação de _ingestão_ts na Bronze, DESCRIBE HISTORY no Delta e quality_log na Silver responde as três perguntas de governança: de onde veio o dado, o que foi feito com ele e quando. Isso é o fundamento técnico que ferramentas de Data Governance expõem visualmente.</a:t>
            </a:r>
            <a:endParaRPr lang="pt-BR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8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ETAPA 04 - GOVERNANCA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Classificação de sensibilidade (LGPD)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384048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915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EA1D2C"/>
                </a:solidFill>
              </a:rPr>
              <a:t>ARQUIVO 04   </a:t>
            </a:r>
            <a:r>
              <a:rPr lang="pt-BR" sz="1000" noProof="0" dirty="0">
                <a:solidFill>
                  <a:srgbClr val="FFFFFF"/>
                </a:solidFill>
              </a:rPr>
              <a:t>04_data_classification</a:t>
            </a:r>
            <a:endParaRPr lang="pt-BR" sz="10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593331"/>
              </p:ext>
            </p:extLst>
          </p:nvPr>
        </p:nvGraphicFramePr>
        <p:xfrm>
          <a:off x="457200" y="1554480"/>
          <a:ext cx="11247120" cy="19659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</a:rPr>
                        <a:t>Campo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</a:rPr>
                        <a:t>Sensibilidade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</a:rPr>
                        <a:t>LGPD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pt-BR" sz="11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EA1D2C"/>
                          </a:solidFill>
                        </a:rPr>
                        <a:t>total_amount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FINANCIAL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EA1D2C"/>
                          </a:solidFill>
                        </a:rPr>
                        <a:t>RESTRICTED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DADO_FINANCEIRO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Valor total cobrado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B45309"/>
                          </a:solidFill>
                        </a:rPr>
                        <a:t>vendor_id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IDENTIFIER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B45309"/>
                          </a:solidFill>
                        </a:rPr>
                        <a:t>INTERNAL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DADO_CADASTRAL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ID do provedor TPEP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B45309"/>
                          </a:solidFill>
                        </a:rPr>
                        <a:t>tpep_pickup_datetime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OPERATIONAL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B45309"/>
                          </a:solidFill>
                        </a:rPr>
                        <a:t>INTERNAL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Hora do embarque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B45309"/>
                          </a:solidFill>
                        </a:rPr>
                        <a:t>tpep_dropoff_datetime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OPERATIONAL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B45309"/>
                          </a:solidFill>
                        </a:rPr>
                        <a:t>INTERNAL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Hora do desembarque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B45309"/>
                          </a:solidFill>
                        </a:rPr>
                        <a:t>passenger_count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OPERATIONAL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B45309"/>
                          </a:solidFill>
                        </a:rPr>
                        <a:t>INTERNAL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Qtd de passageiros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B7A3E"/>
                          </a:solidFill>
                        </a:rPr>
                        <a:t>hora_pickup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DERIVED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B7A3E"/>
                          </a:solidFill>
                        </a:rPr>
                        <a:t>PUBLIC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Coluna derivada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B7A3E"/>
                          </a:solidFill>
                        </a:rPr>
                        <a:t>ano_mês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DERIVED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B7A3E"/>
                          </a:solidFill>
                        </a:rPr>
                        <a:t>PUBLIC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A"/>
                          </a:solidFill>
                        </a:rPr>
                        <a:t>Partição mensal</a:t>
                      </a:r>
                      <a:endParaRPr lang="pt-BR" sz="1000" noProof="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029200"/>
            <a:ext cx="11247120" cy="1188720"/>
          </a:xfrm>
          <a:prstGeom prst="roundRect">
            <a:avLst>
              <a:gd name="adj" fmla="val 4615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685800" y="5138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A1D2C"/>
                </a:solidFill>
              </a:rPr>
              <a:t>Conexão com a vaga - pilar Data Privacy &amp; Security</a:t>
            </a:r>
            <a:endParaRPr lang="pt-BR" sz="1200" noProof="0" dirty="0"/>
          </a:p>
        </p:txBody>
      </p:sp>
      <p:sp>
        <p:nvSpPr>
          <p:cNvPr id="9" name="Text 6"/>
          <p:cNvSpPr/>
          <p:nvPr/>
        </p:nvSpPr>
        <p:spPr>
          <a:xfrm>
            <a:off x="685800" y="5440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total_amount é o único RESTRICTED (DADO_FINANCEIRO, LGPD Art. 5). Numa arquitetura real, não seria exposto na Gold sem controle de acesso via Unity Catalog e auditoria de cada consulta. Postura conservadora: num superapp, o campo equivalente seria diretamente sensível.</a:t>
            </a:r>
            <a:endParaRPr lang="pt-BR" sz="1200" noProof="0" dirty="0"/>
          </a:p>
        </p:txBody>
      </p:sp>
      <p:sp>
        <p:nvSpPr>
          <p:cNvPr id="6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9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ETAPA ANALYSIS - PERGUNTA 1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Faturamento por mês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384048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915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EA1D2C"/>
                </a:solidFill>
              </a:rPr>
              <a:t>ARQUIVO analysis   </a:t>
            </a:r>
            <a:r>
              <a:rPr lang="pt-BR" sz="1000" noProof="0" dirty="0">
                <a:solidFill>
                  <a:srgbClr val="FFFFFF"/>
                </a:solidFill>
              </a:rPr>
              <a:t>analysis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5A5A5A"/>
                </a:solidFill>
              </a:rPr>
              <a:t>Média do valor por corrida (total_amount), por mês - todos os yellow taxis</a:t>
            </a:r>
            <a:endParaRPr lang="pt-BR" sz="1200" noProof="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965960"/>
          <a:ext cx="6858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96596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7772400" y="2148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EA1D2C"/>
                </a:solidFill>
              </a:rPr>
              <a:t>+7,2%</a:t>
            </a:r>
            <a:endParaRPr lang="pt-BR" sz="4000" noProof="0" dirty="0"/>
          </a:p>
        </p:txBody>
      </p:sp>
      <p:sp>
        <p:nvSpPr>
          <p:cNvPr id="10" name="Text 7"/>
          <p:cNvSpPr/>
          <p:nvPr/>
        </p:nvSpPr>
        <p:spPr>
          <a:xfrm>
            <a:off x="7772400" y="2926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alta do ticket médio de jan a mai</a:t>
            </a:r>
            <a:endParaRPr lang="pt-BR" sz="1200" noProof="0" dirty="0"/>
          </a:p>
        </p:txBody>
      </p:sp>
      <p:sp>
        <p:nvSpPr>
          <p:cNvPr id="11" name="Shape 8"/>
          <p:cNvSpPr/>
          <p:nvPr/>
        </p:nvSpPr>
        <p:spPr>
          <a:xfrm>
            <a:off x="7772400" y="384048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FFFFFF"/>
                </a:solidFill>
              </a:rPr>
              <a:t>US$ 86,8 mi</a:t>
            </a:r>
            <a:endParaRPr lang="pt-BR" sz="3000" noProof="0" dirty="0"/>
          </a:p>
        </p:txBody>
      </p:sp>
      <p:sp>
        <p:nvSpPr>
          <p:cNvPr id="13" name="Text 10"/>
          <p:cNvSpPr/>
          <p:nvPr/>
        </p:nvSpPr>
        <p:spPr>
          <a:xfrm>
            <a:off x="7772400" y="4709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CFCFCF"/>
                </a:solidFill>
              </a:rPr>
              <a:t>receita média mensal da frota</a:t>
            </a:r>
            <a:endParaRPr lang="pt-BR" sz="1200" noProof="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CFCFCF"/>
                </a:solidFill>
              </a:rPr>
              <a:t>(interpretação alternativa)</a:t>
            </a:r>
            <a:endParaRPr lang="pt-BR" sz="1200" noProof="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15" name="Text 1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10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ETAPA ANALYSIS - PERGUNTA 2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Passageiros por hora (maio)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384048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915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EA1D2C"/>
                </a:solidFill>
              </a:rPr>
              <a:t>ARQUIVO analysis   </a:t>
            </a:r>
            <a:r>
              <a:rPr lang="pt-BR" sz="1000" noProof="0" dirty="0">
                <a:solidFill>
                  <a:srgbClr val="FFFFFF"/>
                </a:solidFill>
              </a:rPr>
              <a:t>analysis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5A5A5A"/>
                </a:solidFill>
              </a:rPr>
              <a:t>O pico de volume não coincide com o pico de ocupação - insight central de demanda</a:t>
            </a:r>
            <a:endParaRPr lang="pt-BR" sz="1200" noProof="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920240"/>
          <a:ext cx="11064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EA1D2C"/>
                </a:solidFill>
              </a:rPr>
              <a:t>Maior ocupação 02h (1,46): </a:t>
            </a:r>
            <a:r>
              <a:rPr lang="pt-BR" sz="1100" noProof="0" dirty="0">
                <a:solidFill>
                  <a:srgbClr val="1A1A1A"/>
                </a:solidFill>
              </a:rPr>
              <a:t>grupos da vida noturna.    </a:t>
            </a:r>
            <a:r>
              <a:rPr lang="pt-BR" sz="1100" b="1" noProof="0" dirty="0">
                <a:solidFill>
                  <a:srgbClr val="EA1D2C"/>
                </a:solidFill>
              </a:rPr>
              <a:t>Menor 06h (1,26): </a:t>
            </a:r>
            <a:r>
              <a:rPr lang="pt-BR" sz="1100" noProof="0" dirty="0">
                <a:solidFill>
                  <a:srgbClr val="1A1A1A"/>
                </a:solidFill>
              </a:rPr>
              <a:t>commuters individuais.    </a:t>
            </a:r>
            <a:r>
              <a:rPr lang="pt-BR" sz="1100" b="1" noProof="0" dirty="0">
                <a:solidFill>
                  <a:srgbClr val="EA1D2C"/>
                </a:solidFill>
              </a:rPr>
              <a:t>Pico volume 18h (237.971): </a:t>
            </a:r>
            <a:r>
              <a:rPr lang="pt-BR" sz="1100" noProof="0" dirty="0">
                <a:solidFill>
                  <a:srgbClr val="1A1A1A"/>
                </a:solidFill>
              </a:rPr>
              <a:t>saída do trabalho, ocupação baixa (1,38).</a:t>
            </a:r>
            <a:endParaRPr lang="pt-BR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A5A5A"/>
                </a:solidFill>
              </a:rPr>
              <a:t>Banda estreita (1,26 a 1,46) o dia todo: yellow taxi de NY é majoritariamente modal individual.</a:t>
            </a:r>
            <a:endParaRPr lang="pt-B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11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ETAPA VISUAL - INSIGHT EXTRA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Volume de corridas por hora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384048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915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EA1D2C"/>
                </a:solidFill>
              </a:rPr>
              <a:t>ARQUIVO visual   </a:t>
            </a:r>
            <a:r>
              <a:rPr lang="pt-BR" sz="1000" noProof="0" dirty="0">
                <a:solidFill>
                  <a:srgbClr val="FFFFFF"/>
                </a:solidFill>
              </a:rPr>
              <a:t>visual_analysis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5A5A5A"/>
                </a:solidFill>
              </a:rPr>
              <a:t>Fui além do que o case pediu: a dinâmica de demanda ao longo do dia</a:t>
            </a:r>
            <a:endParaRPr lang="pt-BR" sz="1200" noProof="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920240"/>
          <a:ext cx="11064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00" b="1" noProof="0" dirty="0">
                <a:solidFill>
                  <a:srgbClr val="EA1D2C"/>
                </a:solidFill>
              </a:rPr>
              <a:t>Pico as 18h: </a:t>
            </a:r>
            <a:r>
              <a:rPr lang="pt-BR" sz="1200" noProof="0" dirty="0">
                <a:solidFill>
                  <a:srgbClr val="1A1A1A"/>
                </a:solidFill>
              </a:rPr>
              <a:t>237.971 corridas (saída do trabalho). Mas a ocupação (1,38) é menor que a da madrugada (1,46): viagens individuais.</a:t>
            </a:r>
            <a:endParaRPr lang="pt-BR" sz="1200" noProof="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10" name="Text 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12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300" noProof="0" dirty="0">
                <a:solidFill>
                  <a:srgbClr val="EA1D2C"/>
                </a:solidFill>
              </a:rPr>
              <a:t>SINTESE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A1A1A"/>
                </a:solidFill>
              </a:rPr>
              <a:t>Decisões técnicas e justificativas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EA1D2C"/>
                </a:solidFill>
              </a:rPr>
              <a:t>Cast explícito por arquivo</a:t>
            </a:r>
            <a:endParaRPr lang="pt-B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Resolve conflito INT/DOUBLE sem config de cluster</a:t>
            </a:r>
            <a:endParaRPr lang="pt-B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EA1D2C"/>
                </a:solidFill>
              </a:rPr>
              <a:t>Delta Lake</a:t>
            </a:r>
            <a:endParaRPr lang="pt-BR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ACID, time travel e schema enforcement nativos</a:t>
            </a:r>
            <a:endParaRPr lang="pt-B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EA1D2C"/>
                </a:solidFill>
              </a:rPr>
              <a:t>Particionar por ano_mês</a:t>
            </a:r>
            <a:endParaRPr lang="pt-BR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Acelera queries e prepara ingestão incremental</a:t>
            </a:r>
            <a:endParaRPr lang="pt-BR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6172200" y="301752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EA1D2C"/>
                </a:solidFill>
              </a:rPr>
              <a:t>Profiling antes da limpeza</a:t>
            </a:r>
            <a:endParaRPr lang="pt-BR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0" y="35204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Cada regra tem evidência quantitativa, nada arbitrário</a:t>
            </a:r>
            <a:endParaRPr lang="pt-BR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EA1D2C"/>
                </a:solidFill>
              </a:rPr>
              <a:t>quality_log persistido</a:t>
            </a:r>
            <a:endParaRPr lang="pt-BR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Governança contínua e auditável, não pontual</a:t>
            </a:r>
            <a:endParaRPr lang="pt-B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6172200" y="434340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640080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EA1D2C"/>
                </a:solidFill>
              </a:rPr>
              <a:t>Classificação LGPD</a:t>
            </a:r>
            <a:endParaRPr lang="pt-BR" sz="1400" noProof="0" dirty="0"/>
          </a:p>
        </p:txBody>
      </p:sp>
      <p:sp>
        <p:nvSpPr>
          <p:cNvPr id="21" name="Text 19"/>
          <p:cNvSpPr/>
          <p:nvPr/>
        </p:nvSpPr>
        <p:spPr>
          <a:xfrm>
            <a:off x="6400800" y="4846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00" noProof="0" dirty="0">
                <a:solidFill>
                  <a:srgbClr val="1A1A1A"/>
                </a:solidFill>
              </a:rPr>
              <a:t>Políticas de acesso por nível de sensibilidade</a:t>
            </a:r>
            <a:endParaRPr lang="pt-BR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Case Data Architect  |  iFood</a:t>
            </a:r>
            <a:endParaRPr lang="pt-BR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A8A8A"/>
                </a:solidFill>
              </a:rPr>
              <a:t>13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A1D2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kern="0" spc="600" noProof="0" dirty="0">
                <a:solidFill>
                  <a:srgbClr val="EA1D2C"/>
                </a:solidFill>
              </a:rPr>
              <a:t>RESUMO</a:t>
            </a:r>
            <a:endParaRPr lang="pt-BR" sz="1400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FFFFFF"/>
                </a:solidFill>
              </a:rPr>
              <a:t>Do dado bruto ao insight, com qualidade e governança</a:t>
            </a:r>
            <a:endParaRPr lang="pt-BR" sz="2700" noProof="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pt-BR" sz="1400" noProof="0" dirty="0">
                <a:solidFill>
                  <a:srgbClr val="E8E8E8"/>
                </a:solidFill>
              </a:rPr>
              <a:t>Pipeline Medallion completo: 16,2 mi linhas ingeridas, 15,3 mi tratadas (94,76%)</a:t>
            </a:r>
            <a:endParaRPr lang="pt-BR" sz="14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pt-BR" sz="1400" noProof="0" dirty="0">
                <a:solidFill>
                  <a:srgbClr val="E8E8E8"/>
                </a:solidFill>
              </a:rPr>
              <a:t>Armadilha de schema resolvida com cast explicito - sem depender de config de cluster</a:t>
            </a:r>
            <a:endParaRPr lang="pt-BR" sz="14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pt-BR" sz="1400" noProof="0" dirty="0">
                <a:solidFill>
                  <a:srgbClr val="E8E8E8"/>
                </a:solidFill>
              </a:rPr>
              <a:t>Profiling + quality gate + quality_log: governança contínua e auditável</a:t>
            </a:r>
            <a:endParaRPr lang="pt-BR" sz="14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pt-BR" sz="1400" noProof="0" dirty="0">
                <a:solidFill>
                  <a:srgbClr val="E8E8E8"/>
                </a:solidFill>
              </a:rPr>
              <a:t>Classificação LGPD: total_amount RESTRICTED, derivados PUBLIC</a:t>
            </a:r>
            <a:endParaRPr lang="pt-BR" sz="14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pt-BR" sz="1400" noProof="0" dirty="0">
                <a:solidFill>
                  <a:srgbClr val="E8E8E8"/>
                </a:solidFill>
              </a:rPr>
              <a:t>Linhagem (_ingestão_ts) e time travel Delta para auditoria e recuperação</a:t>
            </a:r>
            <a:endParaRPr lang="pt-BR" sz="14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pt-BR" sz="1400" noProof="0">
                <a:solidFill>
                  <a:srgbClr val="E8E8E8"/>
                </a:solidFill>
              </a:rPr>
              <a:t>Análises </a:t>
            </a:r>
            <a:r>
              <a:rPr lang="pt-BR" sz="1400" noProof="0" dirty="0">
                <a:solidFill>
                  <a:srgbClr val="E8E8E8"/>
                </a:solidFill>
              </a:rPr>
              <a:t>com dados reais: +7,2% ticket, US$ 86,8 mi/mês, insights de demanda</a:t>
            </a:r>
            <a:endParaRPr lang="pt-BR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5852160"/>
            <a:ext cx="2743200" cy="0"/>
          </a:xfrm>
          <a:prstGeom prst="line">
            <a:avLst/>
          </a:prstGeom>
          <a:noFill/>
          <a:ln w="25400">
            <a:solidFill>
              <a:srgbClr val="EA1D2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EA1D2C"/>
                </a:solidFill>
              </a:rPr>
              <a:t>github.com/carlosnatale/ifood-case</a:t>
            </a:r>
            <a:endParaRPr lang="pt-BR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9A9A9A"/>
                </a:solidFill>
              </a:rPr>
              <a:t>Carlos Natale</a:t>
            </a:r>
            <a:endParaRPr lang="pt-BR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25ca717-11da-4935-b601-f527b9741f2e}" enabled="1" method="Privileged" siteId="{d852d5cd-724c-4128-8812-ffa5db3f850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1573</Words>
  <Application>Microsoft Office PowerPoint</Application>
  <PresentationFormat>Widescreen</PresentationFormat>
  <Paragraphs>298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Tecnico Data Architect - iFood</dc:title>
  <dc:subject>PptxGenJS Presentation</dc:subject>
  <dc:creator>Carlos Natale</dc:creator>
  <cp:lastModifiedBy>CARLOS HENRIQUE COTTA NATALE</cp:lastModifiedBy>
  <cp:revision>4</cp:revision>
  <dcterms:created xsi:type="dcterms:W3CDTF">2026-06-30T10:46:28Z</dcterms:created>
  <dcterms:modified xsi:type="dcterms:W3CDTF">2026-06-30T11:15:55Z</dcterms:modified>
</cp:coreProperties>
</file>