
<file path=[Content_Types].xml><?xml version="1.0" encoding="utf-8"?>
<Types xmlns="http://schemas.openxmlformats.org/package/2006/content-types"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charts/chart1.xml" ContentType="application/vnd.openxmlformats-officedocument.drawingml.chart+xml"/>
  <Override PartName="/ppt/notesSlides/notesSlide10.xml" ContentType="application/vnd.openxmlformats-officedocument.presentationml.notesSlide+xml"/>
  <Override PartName="/ppt/charts/chart2.xml" ContentType="application/vnd.openxmlformats-officedocument.drawingml.chart+xml"/>
  <Override PartName="/ppt/notesSlides/notesSlide11.xml" ContentType="application/vnd.openxmlformats-officedocument.presentationml.notesSlide+xml"/>
  <Override PartName="/ppt/charts/chart3.xml" ContentType="application/vnd.openxmlformats-officedocument.drawingml.chart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microsoft.com/office/2020/02/relationships/classificationlabels" Target="docMetadata/LabelInfo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5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07" d="100"/>
          <a:sy n="107" d="100"/>
        </p:scale>
        <p:origin x="636" y="10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charts/_rels/chart1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.xlsx"/></Relationships>
</file>

<file path=ppt/charts/_rels/chart2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3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Ticket medio (USD)</c:v>
                </c:pt>
              </c:strCache>
            </c:strRef>
          </c:tx>
          <c:spPr>
            <a:ln w="38100" cap="flat">
              <a:solidFill>
                <a:srgbClr val="EA1D2C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EA1D2C"/>
              </a:solidFill>
              <a:ln w="9525" cap="flat">
                <a:solidFill>
                  <a:srgbClr val="EA1D2C"/>
                </a:solidFill>
                <a:prstDash val="solid"/>
                <a:round/>
              </a:ln>
              <a:effectLst/>
            </c:spPr>
          </c:marker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100" b="0" i="0" u="none" strike="noStrike">
                    <a:solidFill>
                      <a:srgbClr val="1A1A1A"/>
                    </a:solidFill>
                    <a:latin typeface="Arial"/>
                  </a:defRPr>
                </a:pPr>
                <a:endParaRPr lang="en-US"/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Sheet1!$A$2:$A$6</c:f>
              <c:strCache>
                <c:ptCount val="5"/>
                <c:pt idx="0">
                  <c:v>Jan</c:v>
                </c:pt>
                <c:pt idx="1">
                  <c:v>Fev</c:v>
                </c:pt>
                <c:pt idx="2">
                  <c:v>Mar</c:v>
                </c:pt>
                <c:pt idx="3">
                  <c:v>Abr</c:v>
                </c:pt>
                <c:pt idx="4">
                  <c:v>Mai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27.46</c:v>
                </c:pt>
                <c:pt idx="1">
                  <c:v>27.37</c:v>
                </c:pt>
                <c:pt idx="2">
                  <c:v>28.28</c:v>
                </c:pt>
                <c:pt idx="3">
                  <c:v>28.78</c:v>
                </c:pt>
                <c:pt idx="4">
                  <c:v>29.45</c:v>
                </c:pt>
              </c:numCache>
            </c:numRef>
          </c:val>
          <c:smooth val="1"/>
          <c:extLst>
            <c:ext xmlns:c16="http://schemas.microsoft.com/office/drawing/2014/chart" uri="{C3380CC4-5D6E-409C-BE32-E72D297353CC}">
              <c16:uniqueId val="{00000000-D7EC-477A-9D5E-9FD16FC2A241}"/>
            </c:ext>
          </c:extLst>
        </c:ser>
        <c:dLbls>
          <c:dLblPos val="t"/>
          <c:showLegendKey val="0"/>
          <c:showVal val="1"/>
          <c:showCatName val="0"/>
          <c:showSerName val="0"/>
          <c:showPercent val="0"/>
          <c:showBubbleSize val="0"/>
        </c:dLbls>
        <c:marker val="1"/>
        <c:smooth val="0"/>
        <c:axId val="2094734554"/>
        <c:axId val="2094734552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A5A5A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30"/>
          <c:min val="26"/>
        </c:scaling>
        <c:delete val="0"/>
        <c:axPos val="l"/>
        <c:majorGridlines>
          <c:spPr>
            <a:ln w="12700" cap="flat">
              <a:solidFill>
                <a:srgbClr val="88888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A5A5A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Media de passageiros</c:v>
                </c:pt>
              </c:strCache>
            </c:strRef>
          </c:tx>
          <c:spPr>
            <a:ln w="31750" cap="flat">
              <a:solidFill>
                <a:srgbClr val="EA1D2C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EA1D2C"/>
              </a:solidFill>
              <a:ln w="9525" cap="flat">
                <a:solidFill>
                  <a:srgbClr val="EA1D2C"/>
                </a:solidFill>
                <a:prstDash val="solid"/>
                <a:round/>
              </a:ln>
              <a:effectLst/>
            </c:spPr>
          </c:marker>
          <c:cat>
            <c:strRef>
              <c:f>Sheet1!$A$2:$A$25</c:f>
              <c:strCache>
                <c:ptCount val="24"/>
                <c:pt idx="0">
                  <c:v>0h</c:v>
                </c:pt>
                <c:pt idx="1">
                  <c:v>1h</c:v>
                </c:pt>
                <c:pt idx="2">
                  <c:v>2h</c:v>
                </c:pt>
                <c:pt idx="3">
                  <c:v>3h</c:v>
                </c:pt>
                <c:pt idx="4">
                  <c:v>4h</c:v>
                </c:pt>
                <c:pt idx="5">
                  <c:v>5h</c:v>
                </c:pt>
                <c:pt idx="6">
                  <c:v>6h</c:v>
                </c:pt>
                <c:pt idx="7">
                  <c:v>7h</c:v>
                </c:pt>
                <c:pt idx="8">
                  <c:v>8h</c:v>
                </c:pt>
                <c:pt idx="9">
                  <c:v>9h</c:v>
                </c:pt>
                <c:pt idx="10">
                  <c:v>10h</c:v>
                </c:pt>
                <c:pt idx="11">
                  <c:v>11h</c:v>
                </c:pt>
                <c:pt idx="12">
                  <c:v>12h</c:v>
                </c:pt>
                <c:pt idx="13">
                  <c:v>13h</c:v>
                </c:pt>
                <c:pt idx="14">
                  <c:v>14h</c:v>
                </c:pt>
                <c:pt idx="15">
                  <c:v>15h</c:v>
                </c:pt>
                <c:pt idx="16">
                  <c:v>16h</c:v>
                </c:pt>
                <c:pt idx="17">
                  <c:v>17h</c:v>
                </c:pt>
                <c:pt idx="18">
                  <c:v>18h</c:v>
                </c:pt>
                <c:pt idx="19">
                  <c:v>19h</c:v>
                </c:pt>
                <c:pt idx="20">
                  <c:v>20h</c:v>
                </c:pt>
                <c:pt idx="21">
                  <c:v>21h</c:v>
                </c:pt>
                <c:pt idx="22">
                  <c:v>22h</c:v>
                </c:pt>
                <c:pt idx="23">
                  <c:v>23h</c:v>
                </c:pt>
              </c:strCache>
            </c:strRef>
          </c:cat>
          <c:val>
            <c:numRef>
              <c:f>Sheet1!$B$2:$B$25</c:f>
              <c:numCache>
                <c:formatCode>General</c:formatCode>
                <c:ptCount val="24"/>
                <c:pt idx="0">
                  <c:v>1.43</c:v>
                </c:pt>
                <c:pt idx="1">
                  <c:v>1.44</c:v>
                </c:pt>
                <c:pt idx="2">
                  <c:v>1.46</c:v>
                </c:pt>
                <c:pt idx="3">
                  <c:v>1.45</c:v>
                </c:pt>
                <c:pt idx="4">
                  <c:v>1.4</c:v>
                </c:pt>
                <c:pt idx="5">
                  <c:v>1.28</c:v>
                </c:pt>
                <c:pt idx="6">
                  <c:v>1.26</c:v>
                </c:pt>
                <c:pt idx="7">
                  <c:v>1.28</c:v>
                </c:pt>
                <c:pt idx="8">
                  <c:v>1.3</c:v>
                </c:pt>
                <c:pt idx="9">
                  <c:v>1.31</c:v>
                </c:pt>
                <c:pt idx="10">
                  <c:v>1.35</c:v>
                </c:pt>
                <c:pt idx="11">
                  <c:v>1.36</c:v>
                </c:pt>
                <c:pt idx="12">
                  <c:v>1.38</c:v>
                </c:pt>
                <c:pt idx="13">
                  <c:v>1.39</c:v>
                </c:pt>
                <c:pt idx="14">
                  <c:v>1.39</c:v>
                </c:pt>
                <c:pt idx="15">
                  <c:v>1.4</c:v>
                </c:pt>
                <c:pt idx="16">
                  <c:v>1.4</c:v>
                </c:pt>
                <c:pt idx="17">
                  <c:v>1.39</c:v>
                </c:pt>
                <c:pt idx="18">
                  <c:v>1.38</c:v>
                </c:pt>
                <c:pt idx="19">
                  <c:v>1.39</c:v>
                </c:pt>
                <c:pt idx="20">
                  <c:v>1.4</c:v>
                </c:pt>
                <c:pt idx="21">
                  <c:v>1.42</c:v>
                </c:pt>
                <c:pt idx="22">
                  <c:v>1.43</c:v>
                </c:pt>
                <c:pt idx="23">
                  <c:v>1.42</c:v>
                </c:pt>
              </c:numCache>
            </c:numRef>
          </c:val>
          <c:smooth val="1"/>
          <c:extLst>
            <c:ext xmlns:c16="http://schemas.microsoft.com/office/drawing/2014/chart" uri="{C3380CC4-5D6E-409C-BE32-E72D297353CC}">
              <c16:uniqueId val="{00000000-B7DD-44FE-BCC8-51DBC9A7EE1A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2094734554"/>
        <c:axId val="2094734552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5A5A5A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1.5"/>
          <c:min val="1.2"/>
        </c:scaling>
        <c:delete val="0"/>
        <c:axPos val="l"/>
        <c:majorGridlines>
          <c:spPr>
            <a:ln w="12700" cap="flat">
              <a:solidFill>
                <a:srgbClr val="88888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5A5A5A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Corridas</c:v>
                </c:pt>
              </c:strCache>
            </c:strRef>
          </c:tx>
          <c:spPr>
            <a:solidFill>
              <a:srgbClr val="EA1D2C"/>
            </a:solidFill>
            <a:effectLst/>
          </c:spPr>
          <c:invertIfNegative val="0"/>
          <c:cat>
            <c:strRef>
              <c:f>Sheet1!$A$2:$A$25</c:f>
              <c:strCache>
                <c:ptCount val="24"/>
                <c:pt idx="0">
                  <c:v>0h</c:v>
                </c:pt>
                <c:pt idx="1">
                  <c:v>1h</c:v>
                </c:pt>
                <c:pt idx="2">
                  <c:v>2h</c:v>
                </c:pt>
                <c:pt idx="3">
                  <c:v>3h</c:v>
                </c:pt>
                <c:pt idx="4">
                  <c:v>4h</c:v>
                </c:pt>
                <c:pt idx="5">
                  <c:v>5h</c:v>
                </c:pt>
                <c:pt idx="6">
                  <c:v>6h</c:v>
                </c:pt>
                <c:pt idx="7">
                  <c:v>7h</c:v>
                </c:pt>
                <c:pt idx="8">
                  <c:v>8h</c:v>
                </c:pt>
                <c:pt idx="9">
                  <c:v>9h</c:v>
                </c:pt>
                <c:pt idx="10">
                  <c:v>10h</c:v>
                </c:pt>
                <c:pt idx="11">
                  <c:v>11h</c:v>
                </c:pt>
                <c:pt idx="12">
                  <c:v>12h</c:v>
                </c:pt>
                <c:pt idx="13">
                  <c:v>13h</c:v>
                </c:pt>
                <c:pt idx="14">
                  <c:v>14h</c:v>
                </c:pt>
                <c:pt idx="15">
                  <c:v>15h</c:v>
                </c:pt>
                <c:pt idx="16">
                  <c:v>16h</c:v>
                </c:pt>
                <c:pt idx="17">
                  <c:v>17h</c:v>
                </c:pt>
                <c:pt idx="18">
                  <c:v>18h</c:v>
                </c:pt>
                <c:pt idx="19">
                  <c:v>19h</c:v>
                </c:pt>
                <c:pt idx="20">
                  <c:v>20h</c:v>
                </c:pt>
                <c:pt idx="21">
                  <c:v>21h</c:v>
                </c:pt>
                <c:pt idx="22">
                  <c:v>22h</c:v>
                </c:pt>
                <c:pt idx="23">
                  <c:v>23h</c:v>
                </c:pt>
              </c:strCache>
            </c:strRef>
          </c:cat>
          <c:val>
            <c:numRef>
              <c:f>Sheet1!$B$2:$B$25</c:f>
              <c:numCache>
                <c:formatCode>General</c:formatCode>
                <c:ptCount val="24"/>
                <c:pt idx="0">
                  <c:v>88547</c:v>
                </c:pt>
                <c:pt idx="1">
                  <c:v>57501</c:v>
                </c:pt>
                <c:pt idx="2">
                  <c:v>37001</c:v>
                </c:pt>
                <c:pt idx="3">
                  <c:v>24073</c:v>
                </c:pt>
                <c:pt idx="4">
                  <c:v>15726</c:v>
                </c:pt>
                <c:pt idx="5">
                  <c:v>18186</c:v>
                </c:pt>
                <c:pt idx="6">
                  <c:v>45431</c:v>
                </c:pt>
                <c:pt idx="7">
                  <c:v>91710</c:v>
                </c:pt>
                <c:pt idx="8">
                  <c:v>125390</c:v>
                </c:pt>
                <c:pt idx="9">
                  <c:v>140792</c:v>
                </c:pt>
                <c:pt idx="10">
                  <c:v>153473</c:v>
                </c:pt>
                <c:pt idx="11">
                  <c:v>167229</c:v>
                </c:pt>
                <c:pt idx="12">
                  <c:v>180326</c:v>
                </c:pt>
                <c:pt idx="13">
                  <c:v>184462</c:v>
                </c:pt>
                <c:pt idx="14">
                  <c:v>200572</c:v>
                </c:pt>
                <c:pt idx="15">
                  <c:v>204870</c:v>
                </c:pt>
                <c:pt idx="16">
                  <c:v>204992</c:v>
                </c:pt>
                <c:pt idx="17">
                  <c:v>223959</c:v>
                </c:pt>
                <c:pt idx="18">
                  <c:v>237971</c:v>
                </c:pt>
                <c:pt idx="19">
                  <c:v>213682</c:v>
                </c:pt>
                <c:pt idx="20">
                  <c:v>189914</c:v>
                </c:pt>
                <c:pt idx="21">
                  <c:v>194116</c:v>
                </c:pt>
                <c:pt idx="22">
                  <c:v>179479</c:v>
                </c:pt>
                <c:pt idx="23">
                  <c:v>139995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211D-402D-BE1C-E74C8F815C1E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5A5A5A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12700" cap="flat">
              <a:solidFill>
                <a:srgbClr val="88888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5A5A5A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59538365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chart" Target="../charts/chart1.xml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chart" Target="../charts/chart2.xml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chart" Target="../charts/chart3.xml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A1A1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164592"/>
          </a:xfrm>
          <a:prstGeom prst="rect">
            <a:avLst/>
          </a:prstGeom>
          <a:solidFill>
            <a:srgbClr val="EA1D2C"/>
          </a:solidFill>
          <a:ln/>
        </p:spPr>
        <p:txBody>
          <a:bodyPr/>
          <a:lstStyle/>
          <a:p>
            <a:endParaRPr lang="pt-BR" noProof="0" dirty="0"/>
          </a:p>
        </p:txBody>
      </p:sp>
      <p:sp>
        <p:nvSpPr>
          <p:cNvPr id="3" name="Text 1"/>
          <p:cNvSpPr/>
          <p:nvPr/>
        </p:nvSpPr>
        <p:spPr>
          <a:xfrm>
            <a:off x="731520" y="182880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600" b="1" kern="0" spc="600" noProof="0" dirty="0">
                <a:solidFill>
                  <a:srgbClr val="EA1D2C"/>
                </a:solidFill>
              </a:rPr>
              <a:t>CASE TECNICO</a:t>
            </a:r>
            <a:endParaRPr lang="pt-BR" sz="1600" noProof="0" dirty="0"/>
          </a:p>
        </p:txBody>
      </p:sp>
      <p:sp>
        <p:nvSpPr>
          <p:cNvPr id="4" name="Text 2"/>
          <p:cNvSpPr/>
          <p:nvPr/>
        </p:nvSpPr>
        <p:spPr>
          <a:xfrm>
            <a:off x="731520" y="2286000"/>
            <a:ext cx="10515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5000" b="1" noProof="0" dirty="0">
                <a:solidFill>
                  <a:srgbClr val="FFFFFF"/>
                </a:solidFill>
              </a:rPr>
              <a:t>Data Architect</a:t>
            </a:r>
            <a:endParaRPr lang="pt-BR" sz="5000" noProof="0" dirty="0"/>
          </a:p>
        </p:txBody>
      </p:sp>
      <p:sp>
        <p:nvSpPr>
          <p:cNvPr id="5" name="Text 3"/>
          <p:cNvSpPr/>
          <p:nvPr/>
        </p:nvSpPr>
        <p:spPr>
          <a:xfrm>
            <a:off x="731520" y="3474720"/>
            <a:ext cx="10515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pt-BR" sz="1500" noProof="0" dirty="0">
                <a:solidFill>
                  <a:srgbClr val="CFCFCF"/>
                </a:solidFill>
              </a:rPr>
              <a:t>Da ingestão ao insight, com qualidade de dados e governança LGPD</a:t>
            </a:r>
            <a:endParaRPr lang="pt-BR" sz="1500" noProof="0" dirty="0"/>
          </a:p>
          <a:p>
            <a:pPr marL="0" indent="0">
              <a:lnSpc>
                <a:spcPct val="130000"/>
              </a:lnSpc>
              <a:buNone/>
            </a:pPr>
            <a:r>
              <a:rPr lang="pt-BR" sz="1500" noProof="0" dirty="0">
                <a:solidFill>
                  <a:srgbClr val="CFCFCF"/>
                </a:solidFill>
              </a:rPr>
              <a:t>Arquitetura Medallion - Delta Lake - PySpark + SQL </a:t>
            </a:r>
            <a:r>
              <a:rPr lang="pt-BR" sz="1500" noProof="0">
                <a:solidFill>
                  <a:srgbClr val="CFCFCF"/>
                </a:solidFill>
              </a:rPr>
              <a:t>+ Python - </a:t>
            </a:r>
            <a:r>
              <a:rPr lang="pt-BR" sz="1500" noProof="0" dirty="0">
                <a:solidFill>
                  <a:srgbClr val="CFCFCF"/>
                </a:solidFill>
              </a:rPr>
              <a:t>Databricks</a:t>
            </a:r>
            <a:endParaRPr lang="pt-BR" sz="1500" noProof="0" dirty="0"/>
          </a:p>
        </p:txBody>
      </p:sp>
      <p:sp>
        <p:nvSpPr>
          <p:cNvPr id="6" name="Shape 4"/>
          <p:cNvSpPr/>
          <p:nvPr/>
        </p:nvSpPr>
        <p:spPr>
          <a:xfrm>
            <a:off x="777240" y="4937760"/>
            <a:ext cx="2926080" cy="0"/>
          </a:xfrm>
          <a:prstGeom prst="line">
            <a:avLst/>
          </a:prstGeom>
          <a:noFill/>
          <a:ln w="25400">
            <a:solidFill>
              <a:srgbClr val="EA1D2C"/>
            </a:solidFill>
            <a:prstDash val="solid"/>
          </a:ln>
        </p:spPr>
        <p:txBody>
          <a:bodyPr/>
          <a:lstStyle/>
          <a:p>
            <a:endParaRPr lang="pt-BR" noProof="0" dirty="0"/>
          </a:p>
        </p:txBody>
      </p:sp>
      <p:sp>
        <p:nvSpPr>
          <p:cNvPr id="7" name="Text 5"/>
          <p:cNvSpPr/>
          <p:nvPr/>
        </p:nvSpPr>
        <p:spPr>
          <a:xfrm>
            <a:off x="731520" y="507492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800" b="1" noProof="0" dirty="0">
                <a:solidFill>
                  <a:srgbClr val="FFFFFF"/>
                </a:solidFill>
              </a:rPr>
              <a:t>Carlos Natale</a:t>
            </a:r>
            <a:endParaRPr lang="pt-BR" sz="1800" noProof="0" dirty="0"/>
          </a:p>
        </p:txBody>
      </p:sp>
      <p:sp>
        <p:nvSpPr>
          <p:cNvPr id="8" name="Text 6"/>
          <p:cNvSpPr/>
          <p:nvPr/>
        </p:nvSpPr>
        <p:spPr>
          <a:xfrm>
            <a:off x="731520" y="544068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200" noProof="0" dirty="0">
                <a:solidFill>
                  <a:srgbClr val="9A9A9A"/>
                </a:solidFill>
              </a:rPr>
              <a:t>Engenharia de Dados - Governance - 20+ anos em TI</a:t>
            </a:r>
            <a:endParaRPr lang="pt-BR" sz="1200" noProof="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100" b="1" kern="0" spc="300" noProof="0" dirty="0">
                <a:solidFill>
                  <a:srgbClr val="EA1D2C"/>
                </a:solidFill>
              </a:rPr>
              <a:t>VISÃO GERAL</a:t>
            </a:r>
            <a:endParaRPr lang="pt-BR" sz="1100" noProof="0" dirty="0"/>
          </a:p>
        </p:txBody>
      </p:sp>
      <p:sp>
        <p:nvSpPr>
          <p:cNvPr id="3" name="Text 1"/>
          <p:cNvSpPr/>
          <p:nvPr/>
        </p:nvSpPr>
        <p:spPr>
          <a:xfrm>
            <a:off x="457200" y="713232"/>
            <a:ext cx="11247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2500" b="1" noProof="0" dirty="0">
                <a:solidFill>
                  <a:srgbClr val="1A1A1A"/>
                </a:solidFill>
              </a:rPr>
              <a:t>O percurso: 8 etapas, do bruto ao insight</a:t>
            </a:r>
            <a:endParaRPr lang="pt-BR" sz="2500" noProof="0" dirty="0"/>
          </a:p>
        </p:txBody>
      </p:sp>
      <p:sp>
        <p:nvSpPr>
          <p:cNvPr id="4" name="Shape 2"/>
          <p:cNvSpPr/>
          <p:nvPr/>
        </p:nvSpPr>
        <p:spPr>
          <a:xfrm>
            <a:off x="548640" y="1600200"/>
            <a:ext cx="11064240" cy="548640"/>
          </a:xfrm>
          <a:prstGeom prst="roundRect">
            <a:avLst>
              <a:gd name="adj" fmla="val 6667"/>
            </a:avLst>
          </a:prstGeom>
          <a:solidFill>
            <a:srgbClr val="F4F4F4"/>
          </a:solidFill>
          <a:ln w="12700">
            <a:solidFill>
              <a:srgbClr val="EEEEEE"/>
            </a:solidFill>
            <a:prstDash val="solid"/>
          </a:ln>
        </p:spPr>
        <p:txBody>
          <a:bodyPr/>
          <a:lstStyle/>
          <a:p>
            <a:endParaRPr lang="pt-BR" noProof="0" dirty="0"/>
          </a:p>
        </p:txBody>
      </p:sp>
      <p:sp>
        <p:nvSpPr>
          <p:cNvPr id="5" name="Shape 3"/>
          <p:cNvSpPr/>
          <p:nvPr/>
        </p:nvSpPr>
        <p:spPr>
          <a:xfrm>
            <a:off x="640080" y="1691640"/>
            <a:ext cx="1005840" cy="365760"/>
          </a:xfrm>
          <a:prstGeom prst="roundRect">
            <a:avLst>
              <a:gd name="adj" fmla="val 10000"/>
            </a:avLst>
          </a:prstGeom>
          <a:solidFill>
            <a:srgbClr val="1A1A1A"/>
          </a:solidFill>
          <a:ln/>
        </p:spPr>
        <p:txBody>
          <a:bodyPr/>
          <a:lstStyle/>
          <a:p>
            <a:endParaRPr lang="pt-BR" noProof="0" dirty="0"/>
          </a:p>
        </p:txBody>
      </p:sp>
      <p:sp>
        <p:nvSpPr>
          <p:cNvPr id="6" name="Text 4"/>
          <p:cNvSpPr/>
          <p:nvPr/>
        </p:nvSpPr>
        <p:spPr>
          <a:xfrm>
            <a:off x="640080" y="1691640"/>
            <a:ext cx="1005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pt-BR" sz="1200" b="1" noProof="0" dirty="0">
                <a:solidFill>
                  <a:srgbClr val="FFFFFF"/>
                </a:solidFill>
              </a:rPr>
              <a:t>00</a:t>
            </a:r>
            <a:endParaRPr lang="pt-BR" sz="1200" noProof="0" dirty="0"/>
          </a:p>
        </p:txBody>
      </p:sp>
      <p:sp>
        <p:nvSpPr>
          <p:cNvPr id="7" name="Text 5"/>
          <p:cNvSpPr/>
          <p:nvPr/>
        </p:nvSpPr>
        <p:spPr>
          <a:xfrm>
            <a:off x="1828800" y="169164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400" b="1" noProof="0" dirty="0">
                <a:solidFill>
                  <a:srgbClr val="1A1A1A"/>
                </a:solidFill>
              </a:rPr>
              <a:t>Setup</a:t>
            </a:r>
            <a:endParaRPr lang="pt-BR" sz="1400" noProof="0" dirty="0"/>
          </a:p>
        </p:txBody>
      </p:sp>
      <p:sp>
        <p:nvSpPr>
          <p:cNvPr id="8" name="Text 6"/>
          <p:cNvSpPr/>
          <p:nvPr/>
        </p:nvSpPr>
        <p:spPr>
          <a:xfrm>
            <a:off x="4206240" y="1691640"/>
            <a:ext cx="5852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200" noProof="0" dirty="0">
                <a:solidFill>
                  <a:srgbClr val="5A5A5A"/>
                </a:solidFill>
              </a:rPr>
              <a:t>Catalogo, schemas e Volume</a:t>
            </a:r>
            <a:endParaRPr lang="pt-BR" sz="1200" noProof="0" dirty="0"/>
          </a:p>
        </p:txBody>
      </p:sp>
      <p:sp>
        <p:nvSpPr>
          <p:cNvPr id="9" name="Shape 7"/>
          <p:cNvSpPr/>
          <p:nvPr/>
        </p:nvSpPr>
        <p:spPr>
          <a:xfrm>
            <a:off x="10241280" y="1719072"/>
            <a:ext cx="1234440" cy="310896"/>
          </a:xfrm>
          <a:prstGeom prst="roundRect">
            <a:avLst>
              <a:gd name="adj" fmla="val 11765"/>
            </a:avLst>
          </a:prstGeom>
          <a:solidFill>
            <a:srgbClr val="EA1D2C"/>
          </a:solidFill>
          <a:ln/>
        </p:spPr>
        <p:txBody>
          <a:bodyPr/>
          <a:lstStyle/>
          <a:p>
            <a:endParaRPr lang="pt-BR" noProof="0" dirty="0"/>
          </a:p>
        </p:txBody>
      </p:sp>
      <p:sp>
        <p:nvSpPr>
          <p:cNvPr id="10" name="Text 8"/>
          <p:cNvSpPr/>
          <p:nvPr/>
        </p:nvSpPr>
        <p:spPr>
          <a:xfrm>
            <a:off x="10241280" y="1719072"/>
            <a:ext cx="12344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pt-BR" sz="1000" b="1" noProof="0" dirty="0">
                <a:solidFill>
                  <a:srgbClr val="FFFFFF"/>
                </a:solidFill>
              </a:rPr>
              <a:t>SQL</a:t>
            </a:r>
            <a:endParaRPr lang="pt-BR" sz="1000" noProof="0" dirty="0"/>
          </a:p>
        </p:txBody>
      </p:sp>
      <p:sp>
        <p:nvSpPr>
          <p:cNvPr id="11" name="Shape 9"/>
          <p:cNvSpPr/>
          <p:nvPr/>
        </p:nvSpPr>
        <p:spPr>
          <a:xfrm>
            <a:off x="548640" y="2221992"/>
            <a:ext cx="11064240" cy="54864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12700">
            <a:solidFill>
              <a:srgbClr val="EEEEEE"/>
            </a:solidFill>
            <a:prstDash val="solid"/>
          </a:ln>
        </p:spPr>
        <p:txBody>
          <a:bodyPr/>
          <a:lstStyle/>
          <a:p>
            <a:endParaRPr lang="pt-BR" noProof="0" dirty="0"/>
          </a:p>
        </p:txBody>
      </p:sp>
      <p:sp>
        <p:nvSpPr>
          <p:cNvPr id="12" name="Shape 10"/>
          <p:cNvSpPr/>
          <p:nvPr/>
        </p:nvSpPr>
        <p:spPr>
          <a:xfrm>
            <a:off x="640080" y="2313432"/>
            <a:ext cx="1005840" cy="365760"/>
          </a:xfrm>
          <a:prstGeom prst="roundRect">
            <a:avLst>
              <a:gd name="adj" fmla="val 10000"/>
            </a:avLst>
          </a:prstGeom>
          <a:solidFill>
            <a:srgbClr val="1A1A1A"/>
          </a:solidFill>
          <a:ln/>
        </p:spPr>
        <p:txBody>
          <a:bodyPr/>
          <a:lstStyle/>
          <a:p>
            <a:endParaRPr lang="pt-BR" noProof="0" dirty="0"/>
          </a:p>
        </p:txBody>
      </p:sp>
      <p:sp>
        <p:nvSpPr>
          <p:cNvPr id="13" name="Text 11"/>
          <p:cNvSpPr/>
          <p:nvPr/>
        </p:nvSpPr>
        <p:spPr>
          <a:xfrm>
            <a:off x="640080" y="2313432"/>
            <a:ext cx="1005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pt-BR" sz="1200" b="1" noProof="0" dirty="0">
                <a:solidFill>
                  <a:srgbClr val="FFFFFF"/>
                </a:solidFill>
              </a:rPr>
              <a:t>01</a:t>
            </a:r>
            <a:endParaRPr lang="pt-BR" sz="1200" noProof="0" dirty="0"/>
          </a:p>
        </p:txBody>
      </p:sp>
      <p:sp>
        <p:nvSpPr>
          <p:cNvPr id="14" name="Text 12"/>
          <p:cNvSpPr/>
          <p:nvPr/>
        </p:nvSpPr>
        <p:spPr>
          <a:xfrm>
            <a:off x="1828800" y="2313432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400" b="1" noProof="0" dirty="0">
                <a:solidFill>
                  <a:srgbClr val="1A1A1A"/>
                </a:solidFill>
              </a:rPr>
              <a:t>Ingestão</a:t>
            </a:r>
            <a:endParaRPr lang="pt-BR" sz="1400" noProof="0" dirty="0"/>
          </a:p>
        </p:txBody>
      </p:sp>
      <p:sp>
        <p:nvSpPr>
          <p:cNvPr id="15" name="Text 13"/>
          <p:cNvSpPr/>
          <p:nvPr/>
        </p:nvSpPr>
        <p:spPr>
          <a:xfrm>
            <a:off x="4206240" y="2313432"/>
            <a:ext cx="5852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200" noProof="0" dirty="0">
                <a:solidFill>
                  <a:srgbClr val="5A5A5A"/>
                </a:solidFill>
              </a:rPr>
              <a:t>16,2 mi linhas + armadilha do schema</a:t>
            </a:r>
            <a:endParaRPr lang="pt-BR" sz="1200" noProof="0" dirty="0"/>
          </a:p>
        </p:txBody>
      </p:sp>
      <p:sp>
        <p:nvSpPr>
          <p:cNvPr id="16" name="Shape 14"/>
          <p:cNvSpPr/>
          <p:nvPr/>
        </p:nvSpPr>
        <p:spPr>
          <a:xfrm>
            <a:off x="10241280" y="2340864"/>
            <a:ext cx="1234440" cy="310896"/>
          </a:xfrm>
          <a:prstGeom prst="roundRect">
            <a:avLst>
              <a:gd name="adj" fmla="val 11765"/>
            </a:avLst>
          </a:prstGeom>
          <a:solidFill>
            <a:srgbClr val="1A1A1A"/>
          </a:solidFill>
          <a:ln/>
        </p:spPr>
        <p:txBody>
          <a:bodyPr/>
          <a:lstStyle/>
          <a:p>
            <a:endParaRPr lang="pt-BR" noProof="0" dirty="0"/>
          </a:p>
        </p:txBody>
      </p:sp>
      <p:sp>
        <p:nvSpPr>
          <p:cNvPr id="17" name="Text 15"/>
          <p:cNvSpPr/>
          <p:nvPr/>
        </p:nvSpPr>
        <p:spPr>
          <a:xfrm>
            <a:off x="10241280" y="2340864"/>
            <a:ext cx="12344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pt-BR" sz="1000" b="1" noProof="0" dirty="0">
                <a:solidFill>
                  <a:srgbClr val="FFFFFF"/>
                </a:solidFill>
              </a:rPr>
              <a:t>PySpark</a:t>
            </a:r>
            <a:endParaRPr lang="pt-BR" sz="1000" noProof="0" dirty="0"/>
          </a:p>
        </p:txBody>
      </p:sp>
      <p:sp>
        <p:nvSpPr>
          <p:cNvPr id="18" name="Shape 16"/>
          <p:cNvSpPr/>
          <p:nvPr/>
        </p:nvSpPr>
        <p:spPr>
          <a:xfrm>
            <a:off x="548640" y="2843784"/>
            <a:ext cx="11064240" cy="548640"/>
          </a:xfrm>
          <a:prstGeom prst="roundRect">
            <a:avLst>
              <a:gd name="adj" fmla="val 6667"/>
            </a:avLst>
          </a:prstGeom>
          <a:solidFill>
            <a:srgbClr val="F4F4F4"/>
          </a:solidFill>
          <a:ln w="12700">
            <a:solidFill>
              <a:srgbClr val="EEEEEE"/>
            </a:solidFill>
            <a:prstDash val="solid"/>
          </a:ln>
        </p:spPr>
        <p:txBody>
          <a:bodyPr/>
          <a:lstStyle/>
          <a:p>
            <a:endParaRPr lang="pt-BR" noProof="0" dirty="0"/>
          </a:p>
        </p:txBody>
      </p:sp>
      <p:sp>
        <p:nvSpPr>
          <p:cNvPr id="19" name="Shape 17"/>
          <p:cNvSpPr/>
          <p:nvPr/>
        </p:nvSpPr>
        <p:spPr>
          <a:xfrm>
            <a:off x="640080" y="2935224"/>
            <a:ext cx="1005840" cy="365760"/>
          </a:xfrm>
          <a:prstGeom prst="roundRect">
            <a:avLst>
              <a:gd name="adj" fmla="val 10000"/>
            </a:avLst>
          </a:prstGeom>
          <a:solidFill>
            <a:srgbClr val="1A1A1A"/>
          </a:solidFill>
          <a:ln/>
        </p:spPr>
        <p:txBody>
          <a:bodyPr/>
          <a:lstStyle/>
          <a:p>
            <a:endParaRPr lang="pt-BR" noProof="0" dirty="0"/>
          </a:p>
        </p:txBody>
      </p:sp>
      <p:sp>
        <p:nvSpPr>
          <p:cNvPr id="20" name="Text 18"/>
          <p:cNvSpPr/>
          <p:nvPr/>
        </p:nvSpPr>
        <p:spPr>
          <a:xfrm>
            <a:off x="640080" y="2935224"/>
            <a:ext cx="1005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pt-BR" sz="1200" b="1" noProof="0" dirty="0">
                <a:solidFill>
                  <a:srgbClr val="FFFFFF"/>
                </a:solidFill>
              </a:rPr>
              <a:t>00b</a:t>
            </a:r>
            <a:endParaRPr lang="pt-BR" sz="1200" noProof="0" dirty="0"/>
          </a:p>
        </p:txBody>
      </p:sp>
      <p:sp>
        <p:nvSpPr>
          <p:cNvPr id="21" name="Text 19"/>
          <p:cNvSpPr/>
          <p:nvPr/>
        </p:nvSpPr>
        <p:spPr>
          <a:xfrm>
            <a:off x="1828800" y="2935224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400" b="1" noProof="0" dirty="0">
                <a:solidFill>
                  <a:srgbClr val="1A1A1A"/>
                </a:solidFill>
              </a:rPr>
              <a:t>Profiling</a:t>
            </a:r>
            <a:endParaRPr lang="pt-BR" sz="1400" noProof="0" dirty="0"/>
          </a:p>
        </p:txBody>
      </p:sp>
      <p:sp>
        <p:nvSpPr>
          <p:cNvPr id="22" name="Text 20"/>
          <p:cNvSpPr/>
          <p:nvPr/>
        </p:nvSpPr>
        <p:spPr>
          <a:xfrm>
            <a:off x="4206240" y="2935224"/>
            <a:ext cx="5852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200" noProof="0" dirty="0">
                <a:solidFill>
                  <a:srgbClr val="5A5A5A"/>
                </a:solidFill>
              </a:rPr>
              <a:t>Qualidade da fonte antes da limpeza</a:t>
            </a:r>
            <a:endParaRPr lang="pt-BR" sz="1200" noProof="0" dirty="0"/>
          </a:p>
        </p:txBody>
      </p:sp>
      <p:sp>
        <p:nvSpPr>
          <p:cNvPr id="23" name="Shape 21"/>
          <p:cNvSpPr/>
          <p:nvPr/>
        </p:nvSpPr>
        <p:spPr>
          <a:xfrm>
            <a:off x="10241280" y="2962656"/>
            <a:ext cx="1234440" cy="310896"/>
          </a:xfrm>
          <a:prstGeom prst="roundRect">
            <a:avLst>
              <a:gd name="adj" fmla="val 11765"/>
            </a:avLst>
          </a:prstGeom>
          <a:solidFill>
            <a:srgbClr val="EA1D2C"/>
          </a:solidFill>
          <a:ln/>
        </p:spPr>
        <p:txBody>
          <a:bodyPr/>
          <a:lstStyle/>
          <a:p>
            <a:endParaRPr lang="pt-BR" noProof="0" dirty="0"/>
          </a:p>
        </p:txBody>
      </p:sp>
      <p:sp>
        <p:nvSpPr>
          <p:cNvPr id="24" name="Text 22"/>
          <p:cNvSpPr/>
          <p:nvPr/>
        </p:nvSpPr>
        <p:spPr>
          <a:xfrm>
            <a:off x="10241280" y="2962656"/>
            <a:ext cx="12344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pt-BR" sz="1000" b="1" noProof="0" dirty="0">
                <a:solidFill>
                  <a:srgbClr val="FFFFFF"/>
                </a:solidFill>
              </a:rPr>
              <a:t>SQL</a:t>
            </a:r>
            <a:endParaRPr lang="pt-BR" sz="1000" noProof="0" dirty="0"/>
          </a:p>
        </p:txBody>
      </p:sp>
      <p:sp>
        <p:nvSpPr>
          <p:cNvPr id="25" name="Shape 23"/>
          <p:cNvSpPr/>
          <p:nvPr/>
        </p:nvSpPr>
        <p:spPr>
          <a:xfrm>
            <a:off x="548640" y="3465576"/>
            <a:ext cx="11064240" cy="54864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12700">
            <a:solidFill>
              <a:srgbClr val="EEEEEE"/>
            </a:solidFill>
            <a:prstDash val="solid"/>
          </a:ln>
        </p:spPr>
        <p:txBody>
          <a:bodyPr/>
          <a:lstStyle/>
          <a:p>
            <a:endParaRPr lang="pt-BR" noProof="0" dirty="0"/>
          </a:p>
        </p:txBody>
      </p:sp>
      <p:sp>
        <p:nvSpPr>
          <p:cNvPr id="26" name="Shape 24"/>
          <p:cNvSpPr/>
          <p:nvPr/>
        </p:nvSpPr>
        <p:spPr>
          <a:xfrm>
            <a:off x="640080" y="3557016"/>
            <a:ext cx="1005840" cy="365760"/>
          </a:xfrm>
          <a:prstGeom prst="roundRect">
            <a:avLst>
              <a:gd name="adj" fmla="val 10000"/>
            </a:avLst>
          </a:prstGeom>
          <a:solidFill>
            <a:srgbClr val="1A1A1A"/>
          </a:solidFill>
          <a:ln/>
        </p:spPr>
        <p:txBody>
          <a:bodyPr/>
          <a:lstStyle/>
          <a:p>
            <a:endParaRPr lang="pt-BR" noProof="0" dirty="0"/>
          </a:p>
        </p:txBody>
      </p:sp>
      <p:sp>
        <p:nvSpPr>
          <p:cNvPr id="27" name="Text 25"/>
          <p:cNvSpPr/>
          <p:nvPr/>
        </p:nvSpPr>
        <p:spPr>
          <a:xfrm>
            <a:off x="640080" y="3557016"/>
            <a:ext cx="1005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pt-BR" sz="1200" b="1" noProof="0" dirty="0">
                <a:solidFill>
                  <a:srgbClr val="FFFFFF"/>
                </a:solidFill>
              </a:rPr>
              <a:t>02</a:t>
            </a:r>
            <a:endParaRPr lang="pt-BR" sz="1200" noProof="0" dirty="0"/>
          </a:p>
        </p:txBody>
      </p:sp>
      <p:sp>
        <p:nvSpPr>
          <p:cNvPr id="28" name="Text 26"/>
          <p:cNvSpPr/>
          <p:nvPr/>
        </p:nvSpPr>
        <p:spPr>
          <a:xfrm>
            <a:off x="1828800" y="3557016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400" b="1" noProof="0" dirty="0">
                <a:solidFill>
                  <a:srgbClr val="1A1A1A"/>
                </a:solidFill>
              </a:rPr>
              <a:t>Silver</a:t>
            </a:r>
            <a:endParaRPr lang="pt-BR" sz="1400" noProof="0" dirty="0"/>
          </a:p>
        </p:txBody>
      </p:sp>
      <p:sp>
        <p:nvSpPr>
          <p:cNvPr id="29" name="Text 27"/>
          <p:cNvSpPr/>
          <p:nvPr/>
        </p:nvSpPr>
        <p:spPr>
          <a:xfrm>
            <a:off x="4206240" y="3557016"/>
            <a:ext cx="5852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200" noProof="0" dirty="0">
                <a:solidFill>
                  <a:srgbClr val="5A5A5A"/>
                </a:solidFill>
              </a:rPr>
              <a:t>Limpeza, quality gate e quality log</a:t>
            </a:r>
            <a:endParaRPr lang="pt-BR" sz="1200" noProof="0" dirty="0"/>
          </a:p>
        </p:txBody>
      </p:sp>
      <p:sp>
        <p:nvSpPr>
          <p:cNvPr id="30" name="Shape 28"/>
          <p:cNvSpPr/>
          <p:nvPr/>
        </p:nvSpPr>
        <p:spPr>
          <a:xfrm>
            <a:off x="10241280" y="3584448"/>
            <a:ext cx="1234440" cy="310896"/>
          </a:xfrm>
          <a:prstGeom prst="roundRect">
            <a:avLst>
              <a:gd name="adj" fmla="val 11765"/>
            </a:avLst>
          </a:prstGeom>
          <a:solidFill>
            <a:srgbClr val="EA1D2C"/>
          </a:solidFill>
          <a:ln/>
        </p:spPr>
        <p:txBody>
          <a:bodyPr/>
          <a:lstStyle/>
          <a:p>
            <a:endParaRPr lang="pt-BR" noProof="0" dirty="0"/>
          </a:p>
        </p:txBody>
      </p:sp>
      <p:sp>
        <p:nvSpPr>
          <p:cNvPr id="31" name="Text 29"/>
          <p:cNvSpPr/>
          <p:nvPr/>
        </p:nvSpPr>
        <p:spPr>
          <a:xfrm>
            <a:off x="10241280" y="3584448"/>
            <a:ext cx="12344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pt-BR" sz="1000" b="1" noProof="0" dirty="0">
                <a:solidFill>
                  <a:srgbClr val="FFFFFF"/>
                </a:solidFill>
              </a:rPr>
              <a:t>SQL</a:t>
            </a:r>
            <a:endParaRPr lang="pt-BR" sz="1000" noProof="0" dirty="0"/>
          </a:p>
        </p:txBody>
      </p:sp>
      <p:sp>
        <p:nvSpPr>
          <p:cNvPr id="32" name="Shape 30"/>
          <p:cNvSpPr/>
          <p:nvPr/>
        </p:nvSpPr>
        <p:spPr>
          <a:xfrm>
            <a:off x="548640" y="4087368"/>
            <a:ext cx="11064240" cy="548640"/>
          </a:xfrm>
          <a:prstGeom prst="roundRect">
            <a:avLst>
              <a:gd name="adj" fmla="val 6667"/>
            </a:avLst>
          </a:prstGeom>
          <a:solidFill>
            <a:srgbClr val="F4F4F4"/>
          </a:solidFill>
          <a:ln w="12700">
            <a:solidFill>
              <a:srgbClr val="EEEEEE"/>
            </a:solidFill>
            <a:prstDash val="solid"/>
          </a:ln>
        </p:spPr>
        <p:txBody>
          <a:bodyPr/>
          <a:lstStyle/>
          <a:p>
            <a:endParaRPr lang="pt-BR" noProof="0" dirty="0"/>
          </a:p>
        </p:txBody>
      </p:sp>
      <p:sp>
        <p:nvSpPr>
          <p:cNvPr id="33" name="Shape 31"/>
          <p:cNvSpPr/>
          <p:nvPr/>
        </p:nvSpPr>
        <p:spPr>
          <a:xfrm>
            <a:off x="640080" y="4178808"/>
            <a:ext cx="1005840" cy="365760"/>
          </a:xfrm>
          <a:prstGeom prst="roundRect">
            <a:avLst>
              <a:gd name="adj" fmla="val 10000"/>
            </a:avLst>
          </a:prstGeom>
          <a:solidFill>
            <a:srgbClr val="1A1A1A"/>
          </a:solidFill>
          <a:ln/>
        </p:spPr>
        <p:txBody>
          <a:bodyPr/>
          <a:lstStyle/>
          <a:p>
            <a:endParaRPr lang="pt-BR" noProof="0" dirty="0"/>
          </a:p>
        </p:txBody>
      </p:sp>
      <p:sp>
        <p:nvSpPr>
          <p:cNvPr id="34" name="Text 32"/>
          <p:cNvSpPr/>
          <p:nvPr/>
        </p:nvSpPr>
        <p:spPr>
          <a:xfrm>
            <a:off x="640080" y="4178808"/>
            <a:ext cx="1005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pt-BR" sz="1200" b="1" noProof="0" dirty="0">
                <a:solidFill>
                  <a:srgbClr val="FFFFFF"/>
                </a:solidFill>
              </a:rPr>
              <a:t>03</a:t>
            </a:r>
            <a:endParaRPr lang="pt-BR" sz="1200" noProof="0" dirty="0"/>
          </a:p>
        </p:txBody>
      </p:sp>
      <p:sp>
        <p:nvSpPr>
          <p:cNvPr id="35" name="Text 33"/>
          <p:cNvSpPr/>
          <p:nvPr/>
        </p:nvSpPr>
        <p:spPr>
          <a:xfrm>
            <a:off x="1828800" y="4178808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400" b="1" noProof="0" dirty="0">
                <a:solidFill>
                  <a:srgbClr val="1A1A1A"/>
                </a:solidFill>
              </a:rPr>
              <a:t>Gold</a:t>
            </a:r>
            <a:endParaRPr lang="pt-BR" sz="1400" noProof="0" dirty="0"/>
          </a:p>
        </p:txBody>
      </p:sp>
      <p:sp>
        <p:nvSpPr>
          <p:cNvPr id="36" name="Text 34"/>
          <p:cNvSpPr/>
          <p:nvPr/>
        </p:nvSpPr>
        <p:spPr>
          <a:xfrm>
            <a:off x="4206240" y="4178808"/>
            <a:ext cx="5852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200" noProof="0" dirty="0">
                <a:solidFill>
                  <a:srgbClr val="5A5A5A"/>
                </a:solidFill>
              </a:rPr>
              <a:t>Consumo e time travel</a:t>
            </a:r>
            <a:endParaRPr lang="pt-BR" sz="1200" noProof="0" dirty="0"/>
          </a:p>
        </p:txBody>
      </p:sp>
      <p:sp>
        <p:nvSpPr>
          <p:cNvPr id="37" name="Shape 35"/>
          <p:cNvSpPr/>
          <p:nvPr/>
        </p:nvSpPr>
        <p:spPr>
          <a:xfrm>
            <a:off x="10241280" y="4206240"/>
            <a:ext cx="1234440" cy="310896"/>
          </a:xfrm>
          <a:prstGeom prst="roundRect">
            <a:avLst>
              <a:gd name="adj" fmla="val 11765"/>
            </a:avLst>
          </a:prstGeom>
          <a:solidFill>
            <a:srgbClr val="EA1D2C"/>
          </a:solidFill>
          <a:ln/>
        </p:spPr>
        <p:txBody>
          <a:bodyPr/>
          <a:lstStyle/>
          <a:p>
            <a:endParaRPr lang="pt-BR" noProof="0" dirty="0"/>
          </a:p>
        </p:txBody>
      </p:sp>
      <p:sp>
        <p:nvSpPr>
          <p:cNvPr id="38" name="Text 36"/>
          <p:cNvSpPr/>
          <p:nvPr/>
        </p:nvSpPr>
        <p:spPr>
          <a:xfrm>
            <a:off x="10241280" y="4206240"/>
            <a:ext cx="12344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pt-BR" sz="1000" b="1" noProof="0" dirty="0">
                <a:solidFill>
                  <a:srgbClr val="FFFFFF"/>
                </a:solidFill>
              </a:rPr>
              <a:t>SQL</a:t>
            </a:r>
            <a:endParaRPr lang="pt-BR" sz="1000" noProof="0" dirty="0"/>
          </a:p>
        </p:txBody>
      </p:sp>
      <p:sp>
        <p:nvSpPr>
          <p:cNvPr id="39" name="Shape 37"/>
          <p:cNvSpPr/>
          <p:nvPr/>
        </p:nvSpPr>
        <p:spPr>
          <a:xfrm>
            <a:off x="548640" y="4709160"/>
            <a:ext cx="11064240" cy="54864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12700">
            <a:solidFill>
              <a:srgbClr val="EEEEEE"/>
            </a:solidFill>
            <a:prstDash val="solid"/>
          </a:ln>
        </p:spPr>
        <p:txBody>
          <a:bodyPr/>
          <a:lstStyle/>
          <a:p>
            <a:endParaRPr lang="pt-BR" noProof="0" dirty="0"/>
          </a:p>
        </p:txBody>
      </p:sp>
      <p:sp>
        <p:nvSpPr>
          <p:cNvPr id="40" name="Shape 38"/>
          <p:cNvSpPr/>
          <p:nvPr/>
        </p:nvSpPr>
        <p:spPr>
          <a:xfrm>
            <a:off x="640080" y="4800600"/>
            <a:ext cx="1005840" cy="365760"/>
          </a:xfrm>
          <a:prstGeom prst="roundRect">
            <a:avLst>
              <a:gd name="adj" fmla="val 10000"/>
            </a:avLst>
          </a:prstGeom>
          <a:solidFill>
            <a:srgbClr val="1A1A1A"/>
          </a:solidFill>
          <a:ln/>
        </p:spPr>
        <p:txBody>
          <a:bodyPr/>
          <a:lstStyle/>
          <a:p>
            <a:endParaRPr lang="pt-BR" noProof="0" dirty="0"/>
          </a:p>
        </p:txBody>
      </p:sp>
      <p:sp>
        <p:nvSpPr>
          <p:cNvPr id="41" name="Text 39"/>
          <p:cNvSpPr/>
          <p:nvPr/>
        </p:nvSpPr>
        <p:spPr>
          <a:xfrm>
            <a:off x="640080" y="4800600"/>
            <a:ext cx="1005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pt-BR" sz="1200" b="1" noProof="0" dirty="0">
                <a:solidFill>
                  <a:srgbClr val="FFFFFF"/>
                </a:solidFill>
              </a:rPr>
              <a:t>04</a:t>
            </a:r>
            <a:endParaRPr lang="pt-BR" sz="1200" noProof="0" dirty="0"/>
          </a:p>
        </p:txBody>
      </p:sp>
      <p:sp>
        <p:nvSpPr>
          <p:cNvPr id="42" name="Text 40"/>
          <p:cNvSpPr/>
          <p:nvPr/>
        </p:nvSpPr>
        <p:spPr>
          <a:xfrm>
            <a:off x="1828800" y="480060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400" b="1" noProof="0" dirty="0">
                <a:solidFill>
                  <a:srgbClr val="1A1A1A"/>
                </a:solidFill>
              </a:rPr>
              <a:t>Classificação</a:t>
            </a:r>
            <a:endParaRPr lang="pt-BR" sz="1400" noProof="0" dirty="0"/>
          </a:p>
        </p:txBody>
      </p:sp>
      <p:sp>
        <p:nvSpPr>
          <p:cNvPr id="43" name="Text 41"/>
          <p:cNvSpPr/>
          <p:nvPr/>
        </p:nvSpPr>
        <p:spPr>
          <a:xfrm>
            <a:off x="4206240" y="4800600"/>
            <a:ext cx="5852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200" noProof="0" dirty="0">
                <a:solidFill>
                  <a:srgbClr val="5A5A5A"/>
                </a:solidFill>
              </a:rPr>
              <a:t>Governance LGPD dos campos</a:t>
            </a:r>
            <a:endParaRPr lang="pt-BR" sz="1200" noProof="0" dirty="0"/>
          </a:p>
        </p:txBody>
      </p:sp>
      <p:sp>
        <p:nvSpPr>
          <p:cNvPr id="44" name="Shape 42"/>
          <p:cNvSpPr/>
          <p:nvPr/>
        </p:nvSpPr>
        <p:spPr>
          <a:xfrm>
            <a:off x="10241280" y="4828032"/>
            <a:ext cx="1234440" cy="310896"/>
          </a:xfrm>
          <a:prstGeom prst="roundRect">
            <a:avLst>
              <a:gd name="adj" fmla="val 11765"/>
            </a:avLst>
          </a:prstGeom>
          <a:solidFill>
            <a:srgbClr val="EA1D2C"/>
          </a:solidFill>
          <a:ln/>
        </p:spPr>
        <p:txBody>
          <a:bodyPr/>
          <a:lstStyle/>
          <a:p>
            <a:endParaRPr lang="pt-BR" noProof="0" dirty="0"/>
          </a:p>
        </p:txBody>
      </p:sp>
      <p:sp>
        <p:nvSpPr>
          <p:cNvPr id="45" name="Text 43"/>
          <p:cNvSpPr/>
          <p:nvPr/>
        </p:nvSpPr>
        <p:spPr>
          <a:xfrm>
            <a:off x="10241280" y="4828032"/>
            <a:ext cx="12344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pt-BR" sz="1000" b="1" noProof="0" dirty="0">
                <a:solidFill>
                  <a:srgbClr val="FFFFFF"/>
                </a:solidFill>
              </a:rPr>
              <a:t>SQL</a:t>
            </a:r>
            <a:endParaRPr lang="pt-BR" sz="1000" noProof="0" dirty="0"/>
          </a:p>
        </p:txBody>
      </p:sp>
      <p:sp>
        <p:nvSpPr>
          <p:cNvPr id="46" name="Shape 44"/>
          <p:cNvSpPr/>
          <p:nvPr/>
        </p:nvSpPr>
        <p:spPr>
          <a:xfrm>
            <a:off x="548640" y="5330952"/>
            <a:ext cx="11064240" cy="548640"/>
          </a:xfrm>
          <a:prstGeom prst="roundRect">
            <a:avLst>
              <a:gd name="adj" fmla="val 6667"/>
            </a:avLst>
          </a:prstGeom>
          <a:solidFill>
            <a:srgbClr val="F4F4F4"/>
          </a:solidFill>
          <a:ln w="12700">
            <a:solidFill>
              <a:srgbClr val="EEEEEE"/>
            </a:solidFill>
            <a:prstDash val="solid"/>
          </a:ln>
        </p:spPr>
        <p:txBody>
          <a:bodyPr/>
          <a:lstStyle/>
          <a:p>
            <a:endParaRPr lang="pt-BR" noProof="0" dirty="0"/>
          </a:p>
        </p:txBody>
      </p:sp>
      <p:sp>
        <p:nvSpPr>
          <p:cNvPr id="47" name="Shape 45"/>
          <p:cNvSpPr/>
          <p:nvPr/>
        </p:nvSpPr>
        <p:spPr>
          <a:xfrm>
            <a:off x="640080" y="5422392"/>
            <a:ext cx="1005840" cy="365760"/>
          </a:xfrm>
          <a:prstGeom prst="roundRect">
            <a:avLst>
              <a:gd name="adj" fmla="val 10000"/>
            </a:avLst>
          </a:prstGeom>
          <a:solidFill>
            <a:srgbClr val="1A1A1A"/>
          </a:solidFill>
          <a:ln/>
        </p:spPr>
        <p:txBody>
          <a:bodyPr/>
          <a:lstStyle/>
          <a:p>
            <a:endParaRPr lang="pt-BR" noProof="0" dirty="0"/>
          </a:p>
        </p:txBody>
      </p:sp>
      <p:sp>
        <p:nvSpPr>
          <p:cNvPr id="48" name="Text 46"/>
          <p:cNvSpPr/>
          <p:nvPr/>
        </p:nvSpPr>
        <p:spPr>
          <a:xfrm>
            <a:off x="640080" y="5422392"/>
            <a:ext cx="1005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pt-BR" sz="1200" b="1" noProof="0" dirty="0">
                <a:solidFill>
                  <a:srgbClr val="FFFFFF"/>
                </a:solidFill>
              </a:rPr>
              <a:t>analysis</a:t>
            </a:r>
            <a:endParaRPr lang="pt-BR" sz="1200" noProof="0" dirty="0"/>
          </a:p>
        </p:txBody>
      </p:sp>
      <p:sp>
        <p:nvSpPr>
          <p:cNvPr id="49" name="Text 47"/>
          <p:cNvSpPr/>
          <p:nvPr/>
        </p:nvSpPr>
        <p:spPr>
          <a:xfrm>
            <a:off x="1828800" y="5422392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400" b="1" noProof="0" dirty="0">
                <a:solidFill>
                  <a:srgbClr val="1A1A1A"/>
                </a:solidFill>
              </a:rPr>
              <a:t>Análises</a:t>
            </a:r>
            <a:endParaRPr lang="pt-BR" sz="1400" noProof="0" dirty="0"/>
          </a:p>
        </p:txBody>
      </p:sp>
      <p:sp>
        <p:nvSpPr>
          <p:cNvPr id="50" name="Text 48"/>
          <p:cNvSpPr/>
          <p:nvPr/>
        </p:nvSpPr>
        <p:spPr>
          <a:xfrm>
            <a:off x="4206240" y="5422392"/>
            <a:ext cx="5852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200" noProof="0" dirty="0">
                <a:solidFill>
                  <a:srgbClr val="5A5A5A"/>
                </a:solidFill>
              </a:rPr>
              <a:t>As 2 perguntas do case</a:t>
            </a:r>
            <a:endParaRPr lang="pt-BR" sz="1200" noProof="0" dirty="0"/>
          </a:p>
        </p:txBody>
      </p:sp>
      <p:sp>
        <p:nvSpPr>
          <p:cNvPr id="51" name="Shape 49"/>
          <p:cNvSpPr/>
          <p:nvPr/>
        </p:nvSpPr>
        <p:spPr>
          <a:xfrm>
            <a:off x="10241280" y="5449824"/>
            <a:ext cx="1234440" cy="310896"/>
          </a:xfrm>
          <a:prstGeom prst="roundRect">
            <a:avLst>
              <a:gd name="adj" fmla="val 11765"/>
            </a:avLst>
          </a:prstGeom>
          <a:solidFill>
            <a:srgbClr val="EA1D2C"/>
          </a:solidFill>
          <a:ln/>
        </p:spPr>
        <p:txBody>
          <a:bodyPr/>
          <a:lstStyle/>
          <a:p>
            <a:endParaRPr lang="pt-BR" noProof="0" dirty="0"/>
          </a:p>
        </p:txBody>
      </p:sp>
      <p:sp>
        <p:nvSpPr>
          <p:cNvPr id="52" name="Text 50"/>
          <p:cNvSpPr/>
          <p:nvPr/>
        </p:nvSpPr>
        <p:spPr>
          <a:xfrm>
            <a:off x="10241280" y="5449824"/>
            <a:ext cx="12344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pt-BR" sz="1000" b="1" noProof="0" dirty="0">
                <a:solidFill>
                  <a:srgbClr val="FFFFFF"/>
                </a:solidFill>
              </a:rPr>
              <a:t>SQL</a:t>
            </a:r>
            <a:endParaRPr lang="pt-BR" sz="1000" noProof="0" dirty="0"/>
          </a:p>
        </p:txBody>
      </p:sp>
      <p:sp>
        <p:nvSpPr>
          <p:cNvPr id="53" name="Shape 51"/>
          <p:cNvSpPr/>
          <p:nvPr/>
        </p:nvSpPr>
        <p:spPr>
          <a:xfrm>
            <a:off x="548640" y="5952744"/>
            <a:ext cx="11064240" cy="54864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12700">
            <a:solidFill>
              <a:srgbClr val="EEEEEE"/>
            </a:solidFill>
            <a:prstDash val="solid"/>
          </a:ln>
        </p:spPr>
        <p:txBody>
          <a:bodyPr/>
          <a:lstStyle/>
          <a:p>
            <a:endParaRPr lang="pt-BR" noProof="0" dirty="0"/>
          </a:p>
        </p:txBody>
      </p:sp>
      <p:sp>
        <p:nvSpPr>
          <p:cNvPr id="54" name="Shape 52"/>
          <p:cNvSpPr/>
          <p:nvPr/>
        </p:nvSpPr>
        <p:spPr>
          <a:xfrm>
            <a:off x="640080" y="6044184"/>
            <a:ext cx="1005840" cy="365760"/>
          </a:xfrm>
          <a:prstGeom prst="roundRect">
            <a:avLst>
              <a:gd name="adj" fmla="val 10000"/>
            </a:avLst>
          </a:prstGeom>
          <a:solidFill>
            <a:srgbClr val="1A1A1A"/>
          </a:solidFill>
          <a:ln/>
        </p:spPr>
        <p:txBody>
          <a:bodyPr/>
          <a:lstStyle/>
          <a:p>
            <a:endParaRPr lang="pt-BR" noProof="0" dirty="0"/>
          </a:p>
        </p:txBody>
      </p:sp>
      <p:sp>
        <p:nvSpPr>
          <p:cNvPr id="55" name="Text 53"/>
          <p:cNvSpPr/>
          <p:nvPr/>
        </p:nvSpPr>
        <p:spPr>
          <a:xfrm>
            <a:off x="640080" y="6044184"/>
            <a:ext cx="1005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pt-BR" sz="1200" b="1" noProof="0" dirty="0">
                <a:solidFill>
                  <a:srgbClr val="FFFFFF"/>
                </a:solidFill>
              </a:rPr>
              <a:t>visual</a:t>
            </a:r>
            <a:endParaRPr lang="pt-BR" sz="1200" noProof="0" dirty="0"/>
          </a:p>
        </p:txBody>
      </p:sp>
      <p:sp>
        <p:nvSpPr>
          <p:cNvPr id="56" name="Text 54"/>
          <p:cNvSpPr/>
          <p:nvPr/>
        </p:nvSpPr>
        <p:spPr>
          <a:xfrm>
            <a:off x="1828800" y="6044184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400" b="1" noProof="0" dirty="0">
                <a:solidFill>
                  <a:srgbClr val="1A1A1A"/>
                </a:solidFill>
              </a:rPr>
              <a:t>Visual</a:t>
            </a:r>
            <a:endParaRPr lang="pt-BR" sz="1400" noProof="0" dirty="0"/>
          </a:p>
        </p:txBody>
      </p:sp>
      <p:sp>
        <p:nvSpPr>
          <p:cNvPr id="57" name="Text 55"/>
          <p:cNvSpPr/>
          <p:nvPr/>
        </p:nvSpPr>
        <p:spPr>
          <a:xfrm>
            <a:off x="4206240" y="6044184"/>
            <a:ext cx="5852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200" noProof="0" dirty="0">
                <a:solidFill>
                  <a:srgbClr val="5A5A5A"/>
                </a:solidFill>
              </a:rPr>
              <a:t>Gráficos de qualidade e analise</a:t>
            </a:r>
            <a:endParaRPr lang="pt-BR" sz="1200" noProof="0" dirty="0"/>
          </a:p>
        </p:txBody>
      </p:sp>
      <p:sp>
        <p:nvSpPr>
          <p:cNvPr id="58" name="Shape 56"/>
          <p:cNvSpPr/>
          <p:nvPr/>
        </p:nvSpPr>
        <p:spPr>
          <a:xfrm>
            <a:off x="10241280" y="6071616"/>
            <a:ext cx="1234440" cy="310896"/>
          </a:xfrm>
          <a:prstGeom prst="roundRect">
            <a:avLst>
              <a:gd name="adj" fmla="val 11765"/>
            </a:avLst>
          </a:prstGeom>
          <a:solidFill>
            <a:srgbClr val="1A1A1A"/>
          </a:solidFill>
          <a:ln/>
        </p:spPr>
        <p:txBody>
          <a:bodyPr/>
          <a:lstStyle/>
          <a:p>
            <a:endParaRPr lang="pt-BR" noProof="0" dirty="0"/>
          </a:p>
        </p:txBody>
      </p:sp>
      <p:sp>
        <p:nvSpPr>
          <p:cNvPr id="59" name="Text 57"/>
          <p:cNvSpPr/>
          <p:nvPr/>
        </p:nvSpPr>
        <p:spPr>
          <a:xfrm>
            <a:off x="10241280" y="6071616"/>
            <a:ext cx="12344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pt-BR" sz="1000" b="1" noProof="0" dirty="0">
                <a:solidFill>
                  <a:srgbClr val="FFFFFF"/>
                </a:solidFill>
              </a:rPr>
              <a:t>Python</a:t>
            </a:r>
            <a:endParaRPr lang="pt-BR" sz="1000" noProof="0" dirty="0"/>
          </a:p>
        </p:txBody>
      </p:sp>
      <p:sp>
        <p:nvSpPr>
          <p:cNvPr id="60" name="Text 58"/>
          <p:cNvSpPr/>
          <p:nvPr/>
        </p:nvSpPr>
        <p:spPr>
          <a:xfrm>
            <a:off x="457200" y="649224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pt-BR" sz="900" noProof="0" dirty="0">
                <a:solidFill>
                  <a:srgbClr val="8A8A8A"/>
                </a:solidFill>
              </a:rPr>
              <a:t>Case Data Architect  |  iFood</a:t>
            </a:r>
            <a:endParaRPr lang="pt-BR" sz="900" noProof="0" dirty="0"/>
          </a:p>
        </p:txBody>
      </p:sp>
      <p:sp>
        <p:nvSpPr>
          <p:cNvPr id="61" name="Text 59"/>
          <p:cNvSpPr/>
          <p:nvPr/>
        </p:nvSpPr>
        <p:spPr>
          <a:xfrm>
            <a:off x="11247120" y="649224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pt-BR" sz="900" noProof="0" dirty="0">
                <a:solidFill>
                  <a:srgbClr val="8A8A8A"/>
                </a:solidFill>
              </a:rPr>
              <a:t>2</a:t>
            </a:r>
            <a:endParaRPr lang="pt-BR" sz="900" noProof="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100" b="1" kern="0" spc="300" noProof="0" dirty="0">
                <a:solidFill>
                  <a:srgbClr val="EA1D2C"/>
                </a:solidFill>
              </a:rPr>
              <a:t>ARQUITETURA</a:t>
            </a:r>
            <a:endParaRPr lang="pt-BR" sz="1100" noProof="0" dirty="0"/>
          </a:p>
        </p:txBody>
      </p:sp>
      <p:sp>
        <p:nvSpPr>
          <p:cNvPr id="3" name="Text 1"/>
          <p:cNvSpPr/>
          <p:nvPr/>
        </p:nvSpPr>
        <p:spPr>
          <a:xfrm>
            <a:off x="457200" y="713232"/>
            <a:ext cx="11247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2500" b="1" noProof="0" dirty="0">
                <a:solidFill>
                  <a:srgbClr val="1A1A1A"/>
                </a:solidFill>
              </a:rPr>
              <a:t>Medallion em Delta Lake</a:t>
            </a:r>
            <a:endParaRPr lang="pt-BR" sz="2500" noProof="0" dirty="0"/>
          </a:p>
        </p:txBody>
      </p:sp>
      <p:sp>
        <p:nvSpPr>
          <p:cNvPr id="4" name="Shape 2"/>
          <p:cNvSpPr/>
          <p:nvPr/>
        </p:nvSpPr>
        <p:spPr>
          <a:xfrm>
            <a:off x="548640" y="1920240"/>
            <a:ext cx="2514600" cy="1737360"/>
          </a:xfrm>
          <a:prstGeom prst="roundRect">
            <a:avLst>
              <a:gd name="adj" fmla="val 4211"/>
            </a:avLst>
          </a:prstGeom>
          <a:solidFill>
            <a:srgbClr val="F4F4F4"/>
          </a:solidFill>
          <a:ln w="12700">
            <a:solidFill>
              <a:srgbClr val="DDDDDD"/>
            </a:solidFill>
            <a:prstDash val="solid"/>
          </a:ln>
        </p:spPr>
        <p:txBody>
          <a:bodyPr/>
          <a:lstStyle/>
          <a:p>
            <a:endParaRPr lang="pt-BR" noProof="0" dirty="0"/>
          </a:p>
        </p:txBody>
      </p:sp>
      <p:sp>
        <p:nvSpPr>
          <p:cNvPr id="5" name="Text 3"/>
          <p:cNvSpPr/>
          <p:nvPr/>
        </p:nvSpPr>
        <p:spPr>
          <a:xfrm>
            <a:off x="548640" y="2148840"/>
            <a:ext cx="2514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pt-BR" sz="1800" b="1" noProof="0" dirty="0">
                <a:solidFill>
                  <a:srgbClr val="1A1A1A"/>
                </a:solidFill>
              </a:rPr>
              <a:t>LANDING</a:t>
            </a:r>
            <a:endParaRPr lang="pt-BR" sz="1800" noProof="0" dirty="0"/>
          </a:p>
        </p:txBody>
      </p:sp>
      <p:sp>
        <p:nvSpPr>
          <p:cNvPr id="6" name="Text 4"/>
          <p:cNvSpPr/>
          <p:nvPr/>
        </p:nvSpPr>
        <p:spPr>
          <a:xfrm>
            <a:off x="548640" y="2651760"/>
            <a:ext cx="2514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10000"/>
              </a:lnSpc>
              <a:buNone/>
            </a:pPr>
            <a:r>
              <a:rPr lang="pt-BR" sz="1200" noProof="0" dirty="0">
                <a:solidFill>
                  <a:srgbClr val="1A1A1A"/>
                </a:solidFill>
              </a:rPr>
              <a:t>Parquets</a:t>
            </a:r>
            <a:endParaRPr lang="pt-BR" sz="1200" noProof="0" dirty="0"/>
          </a:p>
          <a:p>
            <a:pPr marL="0" indent="0" algn="ctr">
              <a:lnSpc>
                <a:spcPct val="110000"/>
              </a:lnSpc>
              <a:buNone/>
            </a:pPr>
            <a:r>
              <a:rPr lang="pt-BR" sz="1200" noProof="0" dirty="0">
                <a:solidFill>
                  <a:srgbClr val="1A1A1A"/>
                </a:solidFill>
              </a:rPr>
              <a:t>intactos</a:t>
            </a:r>
            <a:endParaRPr lang="pt-BR" sz="1200" noProof="0" dirty="0"/>
          </a:p>
        </p:txBody>
      </p:sp>
      <p:sp>
        <p:nvSpPr>
          <p:cNvPr id="7" name="Text 5"/>
          <p:cNvSpPr/>
          <p:nvPr/>
        </p:nvSpPr>
        <p:spPr>
          <a:xfrm>
            <a:off x="3063240" y="2377440"/>
            <a:ext cx="411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pt-BR" sz="2400" noProof="0" dirty="0">
                <a:solidFill>
                  <a:srgbClr val="8A8A8A"/>
                </a:solidFill>
              </a:rPr>
              <a:t>→</a:t>
            </a:r>
            <a:endParaRPr lang="pt-BR" sz="2400" noProof="0" dirty="0"/>
          </a:p>
        </p:txBody>
      </p:sp>
      <p:sp>
        <p:nvSpPr>
          <p:cNvPr id="8" name="Shape 6"/>
          <p:cNvSpPr/>
          <p:nvPr/>
        </p:nvSpPr>
        <p:spPr>
          <a:xfrm>
            <a:off x="3474720" y="1920240"/>
            <a:ext cx="2514600" cy="1737360"/>
          </a:xfrm>
          <a:prstGeom prst="roundRect">
            <a:avLst>
              <a:gd name="adj" fmla="val 4211"/>
            </a:avLst>
          </a:prstGeom>
          <a:solidFill>
            <a:srgbClr val="FADBD8"/>
          </a:solidFill>
          <a:ln w="12700">
            <a:solidFill>
              <a:srgbClr val="DDDDDD"/>
            </a:solidFill>
            <a:prstDash val="solid"/>
          </a:ln>
        </p:spPr>
        <p:txBody>
          <a:bodyPr/>
          <a:lstStyle/>
          <a:p>
            <a:endParaRPr lang="pt-BR" noProof="0" dirty="0"/>
          </a:p>
        </p:txBody>
      </p:sp>
      <p:sp>
        <p:nvSpPr>
          <p:cNvPr id="9" name="Text 7"/>
          <p:cNvSpPr/>
          <p:nvPr/>
        </p:nvSpPr>
        <p:spPr>
          <a:xfrm>
            <a:off x="3474720" y="2148840"/>
            <a:ext cx="2514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pt-BR" sz="1800" b="1" noProof="0" dirty="0">
                <a:solidFill>
                  <a:srgbClr val="1A1A1A"/>
                </a:solidFill>
              </a:rPr>
              <a:t>BRONZE</a:t>
            </a:r>
            <a:endParaRPr lang="pt-BR" sz="1800" noProof="0" dirty="0"/>
          </a:p>
        </p:txBody>
      </p:sp>
      <p:sp>
        <p:nvSpPr>
          <p:cNvPr id="10" name="Text 8"/>
          <p:cNvSpPr/>
          <p:nvPr/>
        </p:nvSpPr>
        <p:spPr>
          <a:xfrm>
            <a:off x="3474720" y="2651760"/>
            <a:ext cx="2514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10000"/>
              </a:lnSpc>
              <a:buNone/>
            </a:pPr>
            <a:r>
              <a:rPr lang="pt-BR" sz="1200" noProof="0" dirty="0">
                <a:solidFill>
                  <a:srgbClr val="1A1A1A"/>
                </a:solidFill>
              </a:rPr>
              <a:t>Raw + linhagem</a:t>
            </a:r>
            <a:endParaRPr lang="pt-BR" sz="1200" noProof="0" dirty="0"/>
          </a:p>
          <a:p>
            <a:pPr marL="0" indent="0" algn="ctr">
              <a:lnSpc>
                <a:spcPct val="110000"/>
              </a:lnSpc>
              <a:buNone/>
            </a:pPr>
            <a:r>
              <a:rPr lang="pt-BR" sz="1200" noProof="0" dirty="0">
                <a:solidFill>
                  <a:srgbClr val="1A1A1A"/>
                </a:solidFill>
              </a:rPr>
              <a:t>16,2 mi</a:t>
            </a:r>
            <a:endParaRPr lang="pt-BR" sz="1200" noProof="0" dirty="0"/>
          </a:p>
        </p:txBody>
      </p:sp>
      <p:sp>
        <p:nvSpPr>
          <p:cNvPr id="11" name="Text 9"/>
          <p:cNvSpPr/>
          <p:nvPr/>
        </p:nvSpPr>
        <p:spPr>
          <a:xfrm>
            <a:off x="5989320" y="2377440"/>
            <a:ext cx="411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pt-BR" sz="2400" noProof="0" dirty="0">
                <a:solidFill>
                  <a:srgbClr val="8A8A8A"/>
                </a:solidFill>
              </a:rPr>
              <a:t>→</a:t>
            </a:r>
            <a:endParaRPr lang="pt-BR" sz="2400" noProof="0" dirty="0"/>
          </a:p>
        </p:txBody>
      </p:sp>
      <p:sp>
        <p:nvSpPr>
          <p:cNvPr id="12" name="Shape 10"/>
          <p:cNvSpPr/>
          <p:nvPr/>
        </p:nvSpPr>
        <p:spPr>
          <a:xfrm>
            <a:off x="6400800" y="1920240"/>
            <a:ext cx="2514600" cy="1737360"/>
          </a:xfrm>
          <a:prstGeom prst="roundRect">
            <a:avLst>
              <a:gd name="adj" fmla="val 4211"/>
            </a:avLst>
          </a:prstGeom>
          <a:solidFill>
            <a:srgbClr val="F5B7B1"/>
          </a:solidFill>
          <a:ln w="12700">
            <a:solidFill>
              <a:srgbClr val="DDDDDD"/>
            </a:solidFill>
            <a:prstDash val="solid"/>
          </a:ln>
        </p:spPr>
        <p:txBody>
          <a:bodyPr/>
          <a:lstStyle/>
          <a:p>
            <a:endParaRPr lang="pt-BR" noProof="0" dirty="0"/>
          </a:p>
        </p:txBody>
      </p:sp>
      <p:sp>
        <p:nvSpPr>
          <p:cNvPr id="13" name="Text 11"/>
          <p:cNvSpPr/>
          <p:nvPr/>
        </p:nvSpPr>
        <p:spPr>
          <a:xfrm>
            <a:off x="6400800" y="2148840"/>
            <a:ext cx="2514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pt-BR" sz="1800" b="1" noProof="0" dirty="0">
                <a:solidFill>
                  <a:srgbClr val="1A1A1A"/>
                </a:solidFill>
              </a:rPr>
              <a:t>SILVER</a:t>
            </a:r>
            <a:endParaRPr lang="pt-BR" sz="1800" noProof="0" dirty="0"/>
          </a:p>
        </p:txBody>
      </p:sp>
      <p:sp>
        <p:nvSpPr>
          <p:cNvPr id="14" name="Text 12"/>
          <p:cNvSpPr/>
          <p:nvPr/>
        </p:nvSpPr>
        <p:spPr>
          <a:xfrm>
            <a:off x="6400800" y="2651760"/>
            <a:ext cx="2514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10000"/>
              </a:lnSpc>
              <a:buNone/>
            </a:pPr>
            <a:r>
              <a:rPr lang="pt-BR" sz="1200" noProof="0" dirty="0">
                <a:solidFill>
                  <a:srgbClr val="1A1A1A"/>
                </a:solidFill>
              </a:rPr>
              <a:t>Limpo, tipado</a:t>
            </a:r>
            <a:endParaRPr lang="pt-BR" sz="1200" noProof="0" dirty="0"/>
          </a:p>
          <a:p>
            <a:pPr marL="0" indent="0" algn="ctr">
              <a:lnSpc>
                <a:spcPct val="110000"/>
              </a:lnSpc>
              <a:buNone/>
            </a:pPr>
            <a:r>
              <a:rPr lang="pt-BR" sz="1200" noProof="0" dirty="0">
                <a:solidFill>
                  <a:srgbClr val="1A1A1A"/>
                </a:solidFill>
              </a:rPr>
              <a:t>15,3 mi</a:t>
            </a:r>
            <a:endParaRPr lang="pt-BR" sz="1200" noProof="0" dirty="0"/>
          </a:p>
        </p:txBody>
      </p:sp>
      <p:sp>
        <p:nvSpPr>
          <p:cNvPr id="15" name="Text 13"/>
          <p:cNvSpPr/>
          <p:nvPr/>
        </p:nvSpPr>
        <p:spPr>
          <a:xfrm>
            <a:off x="8915400" y="2377440"/>
            <a:ext cx="411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pt-BR" sz="2400" noProof="0" dirty="0">
                <a:solidFill>
                  <a:srgbClr val="8A8A8A"/>
                </a:solidFill>
              </a:rPr>
              <a:t>→</a:t>
            </a:r>
            <a:endParaRPr lang="pt-BR" sz="2400" noProof="0" dirty="0"/>
          </a:p>
        </p:txBody>
      </p:sp>
      <p:sp>
        <p:nvSpPr>
          <p:cNvPr id="16" name="Shape 14"/>
          <p:cNvSpPr/>
          <p:nvPr/>
        </p:nvSpPr>
        <p:spPr>
          <a:xfrm>
            <a:off x="9326880" y="1920240"/>
            <a:ext cx="2514600" cy="1737360"/>
          </a:xfrm>
          <a:prstGeom prst="roundRect">
            <a:avLst>
              <a:gd name="adj" fmla="val 4211"/>
            </a:avLst>
          </a:prstGeom>
          <a:solidFill>
            <a:srgbClr val="EA1D2C"/>
          </a:solidFill>
          <a:ln w="12700">
            <a:solidFill>
              <a:srgbClr val="DDDDDD"/>
            </a:solidFill>
            <a:prstDash val="solid"/>
          </a:ln>
        </p:spPr>
        <p:txBody>
          <a:bodyPr/>
          <a:lstStyle/>
          <a:p>
            <a:endParaRPr lang="pt-BR" noProof="0" dirty="0"/>
          </a:p>
        </p:txBody>
      </p:sp>
      <p:sp>
        <p:nvSpPr>
          <p:cNvPr id="17" name="Text 15"/>
          <p:cNvSpPr/>
          <p:nvPr/>
        </p:nvSpPr>
        <p:spPr>
          <a:xfrm>
            <a:off x="9326880" y="2148840"/>
            <a:ext cx="2514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pt-BR" sz="1800" b="1" noProof="0" dirty="0">
                <a:solidFill>
                  <a:srgbClr val="FFFFFF"/>
                </a:solidFill>
              </a:rPr>
              <a:t>GOLD</a:t>
            </a:r>
            <a:endParaRPr lang="pt-BR" sz="1800" noProof="0" dirty="0"/>
          </a:p>
        </p:txBody>
      </p:sp>
      <p:sp>
        <p:nvSpPr>
          <p:cNvPr id="18" name="Text 16"/>
          <p:cNvSpPr/>
          <p:nvPr/>
        </p:nvSpPr>
        <p:spPr>
          <a:xfrm>
            <a:off x="9326880" y="2651760"/>
            <a:ext cx="2514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10000"/>
              </a:lnSpc>
              <a:buNone/>
            </a:pPr>
            <a:r>
              <a:rPr lang="pt-BR" sz="1200" noProof="0" dirty="0">
                <a:solidFill>
                  <a:srgbClr val="FFFFFF"/>
                </a:solidFill>
              </a:rPr>
              <a:t>Consumo +</a:t>
            </a:r>
            <a:endParaRPr lang="pt-BR" sz="1200" noProof="0" dirty="0"/>
          </a:p>
          <a:p>
            <a:pPr marL="0" indent="0" algn="ctr">
              <a:lnSpc>
                <a:spcPct val="110000"/>
              </a:lnSpc>
              <a:buNone/>
            </a:pPr>
            <a:r>
              <a:rPr lang="pt-BR" sz="1200" noProof="0" dirty="0">
                <a:solidFill>
                  <a:srgbClr val="FFFFFF"/>
                </a:solidFill>
              </a:rPr>
              <a:t>classificação</a:t>
            </a:r>
            <a:endParaRPr lang="pt-BR" sz="1200" noProof="0" dirty="0"/>
          </a:p>
        </p:txBody>
      </p:sp>
      <p:sp>
        <p:nvSpPr>
          <p:cNvPr id="19" name="Text 17"/>
          <p:cNvSpPr/>
          <p:nvPr/>
        </p:nvSpPr>
        <p:spPr>
          <a:xfrm>
            <a:off x="2788920" y="370332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pt-BR" sz="1100" b="1" noProof="0" dirty="0">
                <a:solidFill>
                  <a:srgbClr val="EA1D2C"/>
                </a:solidFill>
              </a:rPr>
              <a:t>PySpark</a:t>
            </a:r>
            <a:endParaRPr lang="pt-BR" sz="1100" noProof="0" dirty="0"/>
          </a:p>
        </p:txBody>
      </p:sp>
      <p:sp>
        <p:nvSpPr>
          <p:cNvPr id="20" name="Text 18"/>
          <p:cNvSpPr/>
          <p:nvPr/>
        </p:nvSpPr>
        <p:spPr>
          <a:xfrm>
            <a:off x="5852160" y="370332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pt-BR" sz="1100" b="1" noProof="0" dirty="0">
                <a:solidFill>
                  <a:srgbClr val="EA1D2C"/>
                </a:solidFill>
              </a:rPr>
              <a:t>SQL</a:t>
            </a:r>
            <a:endParaRPr lang="pt-BR" sz="1100" noProof="0" dirty="0"/>
          </a:p>
        </p:txBody>
      </p:sp>
      <p:sp>
        <p:nvSpPr>
          <p:cNvPr id="21" name="Text 19"/>
          <p:cNvSpPr/>
          <p:nvPr/>
        </p:nvSpPr>
        <p:spPr>
          <a:xfrm>
            <a:off x="8778240" y="370332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pt-BR" sz="1100" b="1" noProof="0" dirty="0">
                <a:solidFill>
                  <a:srgbClr val="EA1D2C"/>
                </a:solidFill>
              </a:rPr>
              <a:t>SQL</a:t>
            </a:r>
            <a:endParaRPr lang="pt-BR" sz="1100" noProof="0" dirty="0"/>
          </a:p>
        </p:txBody>
      </p:sp>
      <p:sp>
        <p:nvSpPr>
          <p:cNvPr id="22" name="Text 20"/>
          <p:cNvSpPr/>
          <p:nvPr/>
        </p:nvSpPr>
        <p:spPr>
          <a:xfrm>
            <a:off x="640080" y="4206240"/>
            <a:ext cx="1097280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ct val="130000"/>
              </a:lnSpc>
              <a:buSzPct val="100000"/>
              <a:buChar char="•"/>
            </a:pPr>
            <a:r>
              <a:rPr lang="pt-BR" sz="1300" noProof="0" dirty="0">
                <a:solidFill>
                  <a:srgbClr val="1A1A1A"/>
                </a:solidFill>
              </a:rPr>
              <a:t>Separação de responsabilidades por camada</a:t>
            </a:r>
            <a:endParaRPr lang="pt-BR" sz="1300" noProof="0" dirty="0"/>
          </a:p>
          <a:p>
            <a:pPr marL="342900" indent="-342900">
              <a:lnSpc>
                <a:spcPct val="130000"/>
              </a:lnSpc>
              <a:buSzPct val="100000"/>
              <a:buChar char="•"/>
            </a:pPr>
            <a:r>
              <a:rPr lang="pt-BR" sz="1300" noProof="0" dirty="0">
                <a:solidFill>
                  <a:srgbClr val="1A1A1A"/>
                </a:solidFill>
              </a:rPr>
              <a:t>Reprocessamento sem tocar na fonte original</a:t>
            </a:r>
            <a:endParaRPr lang="pt-BR" sz="1300" noProof="0" dirty="0"/>
          </a:p>
          <a:p>
            <a:pPr marL="342900" indent="-342900">
              <a:lnSpc>
                <a:spcPct val="130000"/>
              </a:lnSpc>
              <a:buSzPct val="100000"/>
              <a:buChar char="•"/>
            </a:pPr>
            <a:r>
              <a:rPr lang="pt-BR" sz="1300" noProof="0" dirty="0">
                <a:solidFill>
                  <a:srgbClr val="1A1A1A"/>
                </a:solidFill>
              </a:rPr>
              <a:t>Delta Lake: ACID, time travel e schema enforcement</a:t>
            </a:r>
            <a:endParaRPr lang="pt-BR" sz="1300" noProof="0" dirty="0"/>
          </a:p>
          <a:p>
            <a:pPr marL="342900" indent="-342900">
              <a:lnSpc>
                <a:spcPct val="130000"/>
              </a:lnSpc>
              <a:buSzPct val="100000"/>
              <a:buChar char="•"/>
            </a:pPr>
            <a:r>
              <a:rPr lang="pt-BR" sz="1300" noProof="0" dirty="0">
                <a:solidFill>
                  <a:srgbClr val="1A1A1A"/>
                </a:solidFill>
              </a:rPr>
              <a:t>Governance e linhagem de ponta a ponta</a:t>
            </a:r>
            <a:endParaRPr lang="pt-BR" sz="1300" noProof="0" dirty="0"/>
          </a:p>
        </p:txBody>
      </p:sp>
      <p:sp>
        <p:nvSpPr>
          <p:cNvPr id="23" name="Text 21"/>
          <p:cNvSpPr/>
          <p:nvPr/>
        </p:nvSpPr>
        <p:spPr>
          <a:xfrm>
            <a:off x="457200" y="649224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pt-BR" sz="900" noProof="0" dirty="0">
                <a:solidFill>
                  <a:srgbClr val="8A8A8A"/>
                </a:solidFill>
              </a:rPr>
              <a:t>Case Data Architect  |  iFood</a:t>
            </a:r>
            <a:endParaRPr lang="pt-BR" sz="900" noProof="0" dirty="0"/>
          </a:p>
        </p:txBody>
      </p:sp>
      <p:sp>
        <p:nvSpPr>
          <p:cNvPr id="24" name="Text 22"/>
          <p:cNvSpPr/>
          <p:nvPr/>
        </p:nvSpPr>
        <p:spPr>
          <a:xfrm>
            <a:off x="11247120" y="649224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pt-BR" sz="900" noProof="0" dirty="0">
                <a:solidFill>
                  <a:srgbClr val="8A8A8A"/>
                </a:solidFill>
              </a:rPr>
              <a:t>3</a:t>
            </a:r>
            <a:endParaRPr lang="pt-BR" sz="900" noProof="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100" b="1" kern="0" spc="300" noProof="0" dirty="0">
                <a:solidFill>
                  <a:srgbClr val="EA1D2C"/>
                </a:solidFill>
              </a:rPr>
              <a:t>ETAPAS 00 E 01</a:t>
            </a:r>
            <a:endParaRPr lang="pt-BR" sz="1100" noProof="0" dirty="0"/>
          </a:p>
        </p:txBody>
      </p:sp>
      <p:sp>
        <p:nvSpPr>
          <p:cNvPr id="3" name="Text 1"/>
          <p:cNvSpPr/>
          <p:nvPr/>
        </p:nvSpPr>
        <p:spPr>
          <a:xfrm>
            <a:off x="457200" y="713232"/>
            <a:ext cx="11247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2500" b="1" noProof="0" dirty="0">
                <a:solidFill>
                  <a:srgbClr val="1A1A1A"/>
                </a:solidFill>
              </a:rPr>
              <a:t>Setup e ingestão em PySpark</a:t>
            </a:r>
            <a:endParaRPr lang="pt-BR" sz="2500" noProof="0" dirty="0"/>
          </a:p>
        </p:txBody>
      </p:sp>
      <p:sp>
        <p:nvSpPr>
          <p:cNvPr id="4" name="Shape 2"/>
          <p:cNvSpPr/>
          <p:nvPr/>
        </p:nvSpPr>
        <p:spPr>
          <a:xfrm>
            <a:off x="8869680" y="384048"/>
            <a:ext cx="2834640" cy="457200"/>
          </a:xfrm>
          <a:prstGeom prst="roundRect">
            <a:avLst>
              <a:gd name="adj" fmla="val 10000"/>
            </a:avLst>
          </a:prstGeom>
          <a:solidFill>
            <a:srgbClr val="1A1A1A"/>
          </a:solidFill>
          <a:ln/>
        </p:spPr>
        <p:txBody>
          <a:bodyPr/>
          <a:lstStyle/>
          <a:p>
            <a:endParaRPr lang="pt-BR" noProof="0" dirty="0"/>
          </a:p>
        </p:txBody>
      </p:sp>
      <p:sp>
        <p:nvSpPr>
          <p:cNvPr id="5" name="Text 3"/>
          <p:cNvSpPr/>
          <p:nvPr/>
        </p:nvSpPr>
        <p:spPr>
          <a:xfrm>
            <a:off x="8915400" y="384048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pt-BR" sz="1000" b="1" noProof="0" dirty="0">
                <a:solidFill>
                  <a:srgbClr val="EA1D2C"/>
                </a:solidFill>
              </a:rPr>
              <a:t>ARQUIVO 00 + 01   </a:t>
            </a:r>
            <a:r>
              <a:rPr lang="pt-BR" sz="1000" noProof="0" dirty="0">
                <a:solidFill>
                  <a:srgbClr val="FFFFFF"/>
                </a:solidFill>
              </a:rPr>
              <a:t>00_setup / 01_ingestion</a:t>
            </a:r>
            <a:endParaRPr lang="pt-BR" sz="1000" noProof="0" dirty="0"/>
          </a:p>
        </p:txBody>
      </p:sp>
      <p:sp>
        <p:nvSpPr>
          <p:cNvPr id="6" name="Shape 4"/>
          <p:cNvSpPr/>
          <p:nvPr/>
        </p:nvSpPr>
        <p:spPr>
          <a:xfrm>
            <a:off x="548640" y="1600200"/>
            <a:ext cx="5394960" cy="1828800"/>
          </a:xfrm>
          <a:prstGeom prst="roundRect">
            <a:avLst>
              <a:gd name="adj" fmla="val 4000"/>
            </a:avLst>
          </a:prstGeom>
          <a:solidFill>
            <a:srgbClr val="F4F4F4"/>
          </a:solidFill>
          <a:ln/>
        </p:spPr>
        <p:txBody>
          <a:bodyPr/>
          <a:lstStyle/>
          <a:p>
            <a:endParaRPr lang="pt-BR" noProof="0" dirty="0"/>
          </a:p>
        </p:txBody>
      </p:sp>
      <p:sp>
        <p:nvSpPr>
          <p:cNvPr id="7" name="Text 5"/>
          <p:cNvSpPr/>
          <p:nvPr/>
        </p:nvSpPr>
        <p:spPr>
          <a:xfrm>
            <a:off x="777240" y="173736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300" b="1" kern="0" spc="100" noProof="0" dirty="0">
                <a:solidFill>
                  <a:srgbClr val="EA1D2C"/>
                </a:solidFill>
              </a:rPr>
              <a:t>SETUP (00_setup)</a:t>
            </a:r>
            <a:endParaRPr lang="pt-BR" sz="1300" noProof="0" dirty="0"/>
          </a:p>
        </p:txBody>
      </p:sp>
      <p:sp>
        <p:nvSpPr>
          <p:cNvPr id="8" name="Text 6"/>
          <p:cNvSpPr/>
          <p:nvPr/>
        </p:nvSpPr>
        <p:spPr>
          <a:xfrm>
            <a:off x="868680" y="2148840"/>
            <a:ext cx="49377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ct val="130000"/>
              </a:lnSpc>
              <a:buSzPct val="100000"/>
              <a:buChar char="•"/>
            </a:pPr>
            <a:r>
              <a:rPr lang="pt-BR" sz="1200" noProof="0" dirty="0">
                <a:solidFill>
                  <a:srgbClr val="1A1A1A"/>
                </a:solidFill>
              </a:rPr>
              <a:t>Catalogo ifood_case no Unity Catalog</a:t>
            </a:r>
            <a:endParaRPr lang="pt-BR" sz="1200" noProof="0" dirty="0"/>
          </a:p>
          <a:p>
            <a:pPr marL="342900" indent="-342900">
              <a:lnSpc>
                <a:spcPct val="130000"/>
              </a:lnSpc>
              <a:buSzPct val="100000"/>
              <a:buChar char="•"/>
            </a:pPr>
            <a:r>
              <a:rPr lang="pt-BR" sz="1200" noProof="0" dirty="0">
                <a:solidFill>
                  <a:srgbClr val="1A1A1A"/>
                </a:solidFill>
              </a:rPr>
              <a:t>3 schemas: bronze, silver, gold</a:t>
            </a:r>
            <a:endParaRPr lang="pt-BR" sz="1200" noProof="0" dirty="0"/>
          </a:p>
          <a:p>
            <a:pPr marL="342900" indent="-342900">
              <a:lnSpc>
                <a:spcPct val="130000"/>
              </a:lnSpc>
              <a:buSzPct val="100000"/>
              <a:buChar char="•"/>
            </a:pPr>
            <a:r>
              <a:rPr lang="pt-BR" sz="1200" noProof="0" dirty="0">
                <a:solidFill>
                  <a:srgbClr val="1A1A1A"/>
                </a:solidFill>
              </a:rPr>
              <a:t>Volume para a landing zone (Parquets)</a:t>
            </a:r>
            <a:endParaRPr lang="pt-BR" sz="1200" noProof="0" dirty="0"/>
          </a:p>
          <a:p>
            <a:pPr marL="342900" indent="-342900">
              <a:lnSpc>
                <a:spcPct val="130000"/>
              </a:lnSpc>
              <a:buSzPct val="100000"/>
              <a:buChar char="•"/>
            </a:pPr>
            <a:r>
              <a:rPr lang="pt-BR" sz="1200" noProof="0" dirty="0">
                <a:solidFill>
                  <a:srgbClr val="1A1A1A"/>
                </a:solidFill>
              </a:rPr>
              <a:t>Idempotente: IF NOT EXISTS em tudo</a:t>
            </a:r>
            <a:endParaRPr lang="pt-BR" sz="1200" noProof="0" dirty="0"/>
          </a:p>
        </p:txBody>
      </p:sp>
      <p:sp>
        <p:nvSpPr>
          <p:cNvPr id="9" name="Shape 7"/>
          <p:cNvSpPr/>
          <p:nvPr/>
        </p:nvSpPr>
        <p:spPr>
          <a:xfrm>
            <a:off x="6217920" y="1600200"/>
            <a:ext cx="5394960" cy="1828800"/>
          </a:xfrm>
          <a:prstGeom prst="roundRect">
            <a:avLst>
              <a:gd name="adj" fmla="val 4000"/>
            </a:avLst>
          </a:prstGeom>
          <a:solidFill>
            <a:srgbClr val="1A1A1A"/>
          </a:solidFill>
          <a:ln/>
        </p:spPr>
        <p:txBody>
          <a:bodyPr/>
          <a:lstStyle/>
          <a:p>
            <a:endParaRPr lang="pt-BR" noProof="0" dirty="0"/>
          </a:p>
        </p:txBody>
      </p:sp>
      <p:sp>
        <p:nvSpPr>
          <p:cNvPr id="10" name="Text 8"/>
          <p:cNvSpPr/>
          <p:nvPr/>
        </p:nvSpPr>
        <p:spPr>
          <a:xfrm>
            <a:off x="6446520" y="1737360"/>
            <a:ext cx="5029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300" b="1" kern="0" spc="100" noProof="0" dirty="0">
                <a:solidFill>
                  <a:srgbClr val="EA1D2C"/>
                </a:solidFill>
              </a:rPr>
              <a:t>INGESTAO (01_ingestion) - PySpark</a:t>
            </a:r>
            <a:endParaRPr lang="pt-BR" sz="1300" noProof="0" dirty="0"/>
          </a:p>
        </p:txBody>
      </p:sp>
      <p:sp>
        <p:nvSpPr>
          <p:cNvPr id="11" name="Text 9"/>
          <p:cNvSpPr/>
          <p:nvPr/>
        </p:nvSpPr>
        <p:spPr>
          <a:xfrm>
            <a:off x="6446520" y="2148840"/>
            <a:ext cx="5029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pt-BR" sz="1300" noProof="0" dirty="0">
                <a:solidFill>
                  <a:srgbClr val="CFCFC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Jan  3.066.766      Fev  2.913.955</a:t>
            </a:r>
            <a:endParaRPr lang="pt-BR" sz="1300" noProof="0" dirty="0"/>
          </a:p>
          <a:p>
            <a:pPr marL="0" indent="0">
              <a:lnSpc>
                <a:spcPct val="120000"/>
              </a:lnSpc>
              <a:buNone/>
            </a:pPr>
            <a:r>
              <a:rPr lang="pt-BR" sz="1300" noProof="0" dirty="0">
                <a:solidFill>
                  <a:srgbClr val="CFCFC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Mar  3.403.766      Abr  3.288.250</a:t>
            </a:r>
            <a:endParaRPr lang="pt-BR" sz="1300" noProof="0" dirty="0"/>
          </a:p>
          <a:p>
            <a:pPr marL="0" indent="0">
              <a:lnSpc>
                <a:spcPct val="120000"/>
              </a:lnSpc>
              <a:buNone/>
            </a:pPr>
            <a:r>
              <a:rPr lang="pt-BR" sz="1300" noProof="0" dirty="0">
                <a:solidFill>
                  <a:srgbClr val="CFCFC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Mai  3.513.649</a:t>
            </a:r>
            <a:endParaRPr lang="pt-BR" sz="1300" noProof="0" dirty="0"/>
          </a:p>
        </p:txBody>
      </p:sp>
      <p:sp>
        <p:nvSpPr>
          <p:cNvPr id="12" name="Text 10"/>
          <p:cNvSpPr/>
          <p:nvPr/>
        </p:nvSpPr>
        <p:spPr>
          <a:xfrm>
            <a:off x="6446520" y="297180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500" b="1" noProof="0" dirty="0">
                <a:solidFill>
                  <a:srgbClr val="FFFFFF"/>
                </a:solidFill>
              </a:rPr>
              <a:t>Bronze total: 16.186.386 linhas</a:t>
            </a:r>
            <a:endParaRPr lang="pt-BR" sz="1500" noProof="0" dirty="0"/>
          </a:p>
        </p:txBody>
      </p:sp>
      <p:sp>
        <p:nvSpPr>
          <p:cNvPr id="13" name="Shape 11"/>
          <p:cNvSpPr/>
          <p:nvPr/>
        </p:nvSpPr>
        <p:spPr>
          <a:xfrm>
            <a:off x="548640" y="3611880"/>
            <a:ext cx="11064240" cy="2286000"/>
          </a:xfrm>
          <a:prstGeom prst="roundRect">
            <a:avLst>
              <a:gd name="adj" fmla="val 3200"/>
            </a:avLst>
          </a:prstGeom>
          <a:solidFill>
            <a:srgbClr val="FDECEA"/>
          </a:solidFill>
          <a:ln/>
        </p:spPr>
        <p:txBody>
          <a:bodyPr/>
          <a:lstStyle/>
          <a:p>
            <a:endParaRPr lang="pt-BR" noProof="0" dirty="0"/>
          </a:p>
        </p:txBody>
      </p:sp>
      <p:sp>
        <p:nvSpPr>
          <p:cNvPr id="14" name="Text 12"/>
          <p:cNvSpPr/>
          <p:nvPr/>
        </p:nvSpPr>
        <p:spPr>
          <a:xfrm>
            <a:off x="777240" y="3749040"/>
            <a:ext cx="10789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300" b="1" kern="0" spc="100" noProof="0" dirty="0">
                <a:solidFill>
                  <a:srgbClr val="EA1D2C"/>
                </a:solidFill>
              </a:rPr>
              <a:t>A ARMADILHA DO SCHEMA (principal diferencial técnico)</a:t>
            </a:r>
            <a:endParaRPr lang="pt-BR" sz="1300" noProof="0" dirty="0"/>
          </a:p>
        </p:txBody>
      </p:sp>
      <p:sp>
        <p:nvSpPr>
          <p:cNvPr id="15" name="Text 13"/>
          <p:cNvSpPr/>
          <p:nvPr/>
        </p:nvSpPr>
        <p:spPr>
          <a:xfrm>
            <a:off x="777240" y="4114800"/>
            <a:ext cx="64008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5000"/>
              </a:lnSpc>
              <a:buNone/>
            </a:pPr>
            <a:r>
              <a:rPr lang="pt-BR" sz="1300" noProof="0" dirty="0">
                <a:solidFill>
                  <a:srgbClr val="1A1A1A"/>
                </a:solidFill>
              </a:rPr>
              <a:t>passenger_count vem como INT em alguns meses e DOUBLE em outros. Impor schema não resolve: o leitor vetorizado do Spark recusa o cast, e a config enableVectorizedReader=false não existe no serverless da Free Edition.</a:t>
            </a:r>
            <a:endParaRPr lang="pt-BR" sz="1300" noProof="0" dirty="0"/>
          </a:p>
        </p:txBody>
      </p:sp>
      <p:sp>
        <p:nvSpPr>
          <p:cNvPr id="16" name="Text 14"/>
          <p:cNvSpPr/>
          <p:nvPr/>
        </p:nvSpPr>
        <p:spPr>
          <a:xfrm>
            <a:off x="7315200" y="4114800"/>
            <a:ext cx="4114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pt-BR" sz="1200" b="1" noProof="0" dirty="0">
                <a:solidFill>
                  <a:srgbClr val="1B7A3E"/>
                </a:solidFill>
              </a:rPr>
              <a:t>Solução: ler cada arquivo, cast explicito</a:t>
            </a:r>
            <a:endParaRPr lang="pt-BR" sz="1200" noProof="0" dirty="0"/>
          </a:p>
          <a:p>
            <a:pPr marL="0" indent="0">
              <a:lnSpc>
                <a:spcPct val="120000"/>
              </a:lnSpc>
              <a:buNone/>
            </a:pPr>
            <a:r>
              <a:rPr lang="pt-BR" sz="1200" b="1" noProof="0" dirty="0">
                <a:solidFill>
                  <a:srgbClr val="1B7A3E"/>
                </a:solidFill>
              </a:rPr>
              <a:t>coluna a coluna, unir com unionByName.</a:t>
            </a:r>
            <a:endParaRPr lang="pt-BR" sz="1200" noProof="0" dirty="0"/>
          </a:p>
        </p:txBody>
      </p:sp>
      <p:sp>
        <p:nvSpPr>
          <p:cNvPr id="17" name="Text 15"/>
          <p:cNvSpPr/>
          <p:nvPr/>
        </p:nvSpPr>
        <p:spPr>
          <a:xfrm>
            <a:off x="7315200" y="4892040"/>
            <a:ext cx="4114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pt-BR" sz="1000" noProof="0" dirty="0">
                <a:solidFill>
                  <a:srgbClr val="1E1E1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for path in arquivos:</a:t>
            </a:r>
            <a:endParaRPr lang="pt-BR" sz="1000" noProof="0" dirty="0"/>
          </a:p>
          <a:p>
            <a:pPr marL="0" indent="0">
              <a:lnSpc>
                <a:spcPct val="110000"/>
              </a:lnSpc>
              <a:buNone/>
            </a:pPr>
            <a:r>
              <a:rPr lang="pt-BR" sz="1000" noProof="0" dirty="0">
                <a:solidFill>
                  <a:srgbClr val="1E1E1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d = spark.read.parquet(path).select(</a:t>
            </a:r>
            <a:endParaRPr lang="pt-BR" sz="1000" noProof="0" dirty="0"/>
          </a:p>
          <a:p>
            <a:pPr marL="0" indent="0">
              <a:lnSpc>
                <a:spcPct val="110000"/>
              </a:lnSpc>
              <a:buNone/>
            </a:pPr>
            <a:r>
              <a:rPr lang="pt-BR" sz="1000" noProof="0" dirty="0">
                <a:solidFill>
                  <a:srgbClr val="1E1E1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F.col('passenger_count').cast('double'), ...)</a:t>
            </a:r>
            <a:endParaRPr lang="pt-BR" sz="1000" noProof="0" dirty="0"/>
          </a:p>
          <a:p>
            <a:pPr marL="0" indent="0">
              <a:lnSpc>
                <a:spcPct val="110000"/>
              </a:lnSpc>
              <a:buNone/>
            </a:pPr>
            <a:r>
              <a:rPr lang="pt-BR" sz="1000" noProof="0" dirty="0">
                <a:solidFill>
                  <a:srgbClr val="1E1E1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df = reduce(unionByName, dfs)</a:t>
            </a:r>
            <a:endParaRPr lang="pt-BR" sz="1000" noProof="0" dirty="0"/>
          </a:p>
        </p:txBody>
      </p:sp>
      <p:sp>
        <p:nvSpPr>
          <p:cNvPr id="18" name="Text 16"/>
          <p:cNvSpPr/>
          <p:nvPr/>
        </p:nvSpPr>
        <p:spPr>
          <a:xfrm>
            <a:off x="457200" y="649224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pt-BR" sz="900" noProof="0" dirty="0">
                <a:solidFill>
                  <a:srgbClr val="8A8A8A"/>
                </a:solidFill>
              </a:rPr>
              <a:t>Case Data Architect  |  iFood</a:t>
            </a:r>
            <a:endParaRPr lang="pt-BR" sz="900" noProof="0" dirty="0"/>
          </a:p>
        </p:txBody>
      </p:sp>
      <p:sp>
        <p:nvSpPr>
          <p:cNvPr id="19" name="Text 17"/>
          <p:cNvSpPr/>
          <p:nvPr/>
        </p:nvSpPr>
        <p:spPr>
          <a:xfrm>
            <a:off x="11247120" y="649224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pt-BR" sz="900" noProof="0" dirty="0">
                <a:solidFill>
                  <a:srgbClr val="8A8A8A"/>
                </a:solidFill>
              </a:rPr>
              <a:t>4</a:t>
            </a:r>
            <a:endParaRPr lang="pt-BR" sz="900" noProof="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100" b="1" kern="0" spc="300" noProof="0" dirty="0">
                <a:solidFill>
                  <a:srgbClr val="EA1D2C"/>
                </a:solidFill>
              </a:rPr>
              <a:t>ETAPA 00B - QUALIDADE DE DADOS</a:t>
            </a:r>
            <a:endParaRPr lang="pt-BR" sz="1100" noProof="0" dirty="0"/>
          </a:p>
        </p:txBody>
      </p:sp>
      <p:sp>
        <p:nvSpPr>
          <p:cNvPr id="3" name="Text 1"/>
          <p:cNvSpPr/>
          <p:nvPr/>
        </p:nvSpPr>
        <p:spPr>
          <a:xfrm>
            <a:off x="457200" y="713232"/>
            <a:ext cx="11247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2500" b="1" noProof="0" dirty="0">
                <a:solidFill>
                  <a:srgbClr val="1A1A1A"/>
                </a:solidFill>
              </a:rPr>
              <a:t>Profiling: o que havia na fonte</a:t>
            </a:r>
            <a:endParaRPr lang="pt-BR" sz="2500" noProof="0" dirty="0"/>
          </a:p>
        </p:txBody>
      </p:sp>
      <p:sp>
        <p:nvSpPr>
          <p:cNvPr id="4" name="Shape 2"/>
          <p:cNvSpPr/>
          <p:nvPr/>
        </p:nvSpPr>
        <p:spPr>
          <a:xfrm>
            <a:off x="8869680" y="384048"/>
            <a:ext cx="2834640" cy="457200"/>
          </a:xfrm>
          <a:prstGeom prst="roundRect">
            <a:avLst>
              <a:gd name="adj" fmla="val 10000"/>
            </a:avLst>
          </a:prstGeom>
          <a:solidFill>
            <a:srgbClr val="1A1A1A"/>
          </a:solidFill>
          <a:ln/>
        </p:spPr>
        <p:txBody>
          <a:bodyPr/>
          <a:lstStyle/>
          <a:p>
            <a:endParaRPr lang="pt-BR" noProof="0" dirty="0"/>
          </a:p>
        </p:txBody>
      </p:sp>
      <p:sp>
        <p:nvSpPr>
          <p:cNvPr id="5" name="Text 3"/>
          <p:cNvSpPr/>
          <p:nvPr/>
        </p:nvSpPr>
        <p:spPr>
          <a:xfrm>
            <a:off x="8915400" y="384048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pt-BR" sz="1000" b="1" noProof="0" dirty="0">
                <a:solidFill>
                  <a:srgbClr val="EA1D2C"/>
                </a:solidFill>
              </a:rPr>
              <a:t>ARQUIVO 00b   </a:t>
            </a:r>
            <a:r>
              <a:rPr lang="pt-BR" sz="1000" noProof="0" dirty="0">
                <a:solidFill>
                  <a:srgbClr val="FFFFFF"/>
                </a:solidFill>
              </a:rPr>
              <a:t>00b_profiling</a:t>
            </a:r>
            <a:endParaRPr lang="pt-BR" sz="1000" noProof="0" dirty="0"/>
          </a:p>
        </p:txBody>
      </p:sp>
      <p:sp>
        <p:nvSpPr>
          <p:cNvPr id="6" name="Text 4"/>
          <p:cNvSpPr/>
          <p:nvPr/>
        </p:nvSpPr>
        <p:spPr>
          <a:xfrm>
            <a:off x="457200" y="146304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300" noProof="0" dirty="0">
                <a:solidFill>
                  <a:srgbClr val="5A5A5A"/>
                </a:solidFill>
              </a:rPr>
              <a:t>Analise da Bronze ANTES da limpeza. Cada problema vira uma regra de limpeza justificada.</a:t>
            </a:r>
            <a:endParaRPr lang="pt-BR" sz="1300" noProof="0" dirty="0"/>
          </a:p>
        </p:txBody>
      </p:sp>
      <p:sp>
        <p:nvSpPr>
          <p:cNvPr id="7" name="Shape 5"/>
          <p:cNvSpPr/>
          <p:nvPr/>
        </p:nvSpPr>
        <p:spPr>
          <a:xfrm>
            <a:off x="548640" y="1965960"/>
            <a:ext cx="2157984" cy="1371600"/>
          </a:xfrm>
          <a:prstGeom prst="roundRect">
            <a:avLst>
              <a:gd name="adj" fmla="val 5333"/>
            </a:avLst>
          </a:prstGeom>
          <a:solidFill>
            <a:srgbClr val="FEF3C7"/>
          </a:solidFill>
          <a:ln/>
        </p:spPr>
        <p:txBody>
          <a:bodyPr/>
          <a:lstStyle/>
          <a:p>
            <a:endParaRPr lang="pt-BR" noProof="0" dirty="0"/>
          </a:p>
        </p:txBody>
      </p:sp>
      <p:sp>
        <p:nvSpPr>
          <p:cNvPr id="8" name="Text 6"/>
          <p:cNvSpPr/>
          <p:nvPr/>
        </p:nvSpPr>
        <p:spPr>
          <a:xfrm>
            <a:off x="548640" y="2103120"/>
            <a:ext cx="215798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pt-BR" sz="2100" b="1" noProof="0" dirty="0">
                <a:solidFill>
                  <a:srgbClr val="B45309"/>
                </a:solidFill>
              </a:rPr>
              <a:t>428.665</a:t>
            </a:r>
            <a:endParaRPr lang="pt-BR" sz="2100" noProof="0" dirty="0"/>
          </a:p>
        </p:txBody>
      </p:sp>
      <p:sp>
        <p:nvSpPr>
          <p:cNvPr id="9" name="Text 7"/>
          <p:cNvSpPr/>
          <p:nvPr/>
        </p:nvSpPr>
        <p:spPr>
          <a:xfrm>
            <a:off x="548640" y="2697480"/>
            <a:ext cx="215798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10000"/>
              </a:lnSpc>
              <a:buNone/>
            </a:pPr>
            <a:r>
              <a:rPr lang="pt-BR" sz="1100" noProof="0" dirty="0">
                <a:solidFill>
                  <a:srgbClr val="1A1A1A"/>
                </a:solidFill>
              </a:rPr>
              <a:t>nulos passenger_count</a:t>
            </a:r>
            <a:endParaRPr lang="pt-BR" sz="1100" noProof="0" dirty="0"/>
          </a:p>
        </p:txBody>
      </p:sp>
      <p:sp>
        <p:nvSpPr>
          <p:cNvPr id="10" name="Shape 8"/>
          <p:cNvSpPr/>
          <p:nvPr/>
        </p:nvSpPr>
        <p:spPr>
          <a:xfrm>
            <a:off x="2816352" y="1965960"/>
            <a:ext cx="2157984" cy="1371600"/>
          </a:xfrm>
          <a:prstGeom prst="roundRect">
            <a:avLst>
              <a:gd name="adj" fmla="val 5333"/>
            </a:avLst>
          </a:prstGeom>
          <a:solidFill>
            <a:srgbClr val="FEF3C7"/>
          </a:solidFill>
          <a:ln/>
        </p:spPr>
        <p:txBody>
          <a:bodyPr/>
          <a:lstStyle/>
          <a:p>
            <a:endParaRPr lang="pt-BR" noProof="0" dirty="0"/>
          </a:p>
        </p:txBody>
      </p:sp>
      <p:sp>
        <p:nvSpPr>
          <p:cNvPr id="11" name="Text 9"/>
          <p:cNvSpPr/>
          <p:nvPr/>
        </p:nvSpPr>
        <p:spPr>
          <a:xfrm>
            <a:off x="2816352" y="2103120"/>
            <a:ext cx="215798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pt-BR" sz="2100" b="1" noProof="0" dirty="0">
                <a:solidFill>
                  <a:srgbClr val="B45309"/>
                </a:solidFill>
              </a:rPr>
              <a:t>273.481</a:t>
            </a:r>
            <a:endParaRPr lang="pt-BR" sz="2100" noProof="0" dirty="0"/>
          </a:p>
        </p:txBody>
      </p:sp>
      <p:sp>
        <p:nvSpPr>
          <p:cNvPr id="12" name="Text 10"/>
          <p:cNvSpPr/>
          <p:nvPr/>
        </p:nvSpPr>
        <p:spPr>
          <a:xfrm>
            <a:off x="2816352" y="2697480"/>
            <a:ext cx="215798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10000"/>
              </a:lnSpc>
              <a:buNone/>
            </a:pPr>
            <a:r>
              <a:rPr lang="pt-BR" sz="1100" noProof="0" dirty="0">
                <a:solidFill>
                  <a:srgbClr val="1A1A1A"/>
                </a:solidFill>
              </a:rPr>
              <a:t>passageiro = 0</a:t>
            </a:r>
            <a:endParaRPr lang="pt-BR" sz="1100" noProof="0" dirty="0"/>
          </a:p>
        </p:txBody>
      </p:sp>
      <p:sp>
        <p:nvSpPr>
          <p:cNvPr id="13" name="Shape 11"/>
          <p:cNvSpPr/>
          <p:nvPr/>
        </p:nvSpPr>
        <p:spPr>
          <a:xfrm>
            <a:off x="5084064" y="1965960"/>
            <a:ext cx="2157984" cy="1371600"/>
          </a:xfrm>
          <a:prstGeom prst="roundRect">
            <a:avLst>
              <a:gd name="adj" fmla="val 5333"/>
            </a:avLst>
          </a:prstGeom>
          <a:solidFill>
            <a:srgbClr val="FDECEA"/>
          </a:solidFill>
          <a:ln/>
        </p:spPr>
        <p:txBody>
          <a:bodyPr/>
          <a:lstStyle/>
          <a:p>
            <a:endParaRPr lang="pt-BR" noProof="0" dirty="0"/>
          </a:p>
        </p:txBody>
      </p:sp>
      <p:sp>
        <p:nvSpPr>
          <p:cNvPr id="14" name="Text 12"/>
          <p:cNvSpPr/>
          <p:nvPr/>
        </p:nvSpPr>
        <p:spPr>
          <a:xfrm>
            <a:off x="5084064" y="2103120"/>
            <a:ext cx="215798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pt-BR" sz="2100" b="1" noProof="0" dirty="0">
                <a:solidFill>
                  <a:srgbClr val="EA1D2C"/>
                </a:solidFill>
              </a:rPr>
              <a:t>141.407</a:t>
            </a:r>
            <a:endParaRPr lang="pt-BR" sz="2100" noProof="0" dirty="0"/>
          </a:p>
        </p:txBody>
      </p:sp>
      <p:sp>
        <p:nvSpPr>
          <p:cNvPr id="15" name="Text 13"/>
          <p:cNvSpPr/>
          <p:nvPr/>
        </p:nvSpPr>
        <p:spPr>
          <a:xfrm>
            <a:off x="5084064" y="2697480"/>
            <a:ext cx="215798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10000"/>
              </a:lnSpc>
              <a:buNone/>
            </a:pPr>
            <a:r>
              <a:rPr lang="pt-BR" sz="1100" noProof="0" dirty="0">
                <a:solidFill>
                  <a:srgbClr val="1A1A1A"/>
                </a:solidFill>
              </a:rPr>
              <a:t>valores negativos</a:t>
            </a:r>
            <a:endParaRPr lang="pt-BR" sz="1100" noProof="0" dirty="0"/>
          </a:p>
        </p:txBody>
      </p:sp>
      <p:sp>
        <p:nvSpPr>
          <p:cNvPr id="16" name="Shape 14"/>
          <p:cNvSpPr/>
          <p:nvPr/>
        </p:nvSpPr>
        <p:spPr>
          <a:xfrm>
            <a:off x="7351776" y="1965960"/>
            <a:ext cx="2157984" cy="1371600"/>
          </a:xfrm>
          <a:prstGeom prst="roundRect">
            <a:avLst>
              <a:gd name="adj" fmla="val 5333"/>
            </a:avLst>
          </a:prstGeom>
          <a:solidFill>
            <a:srgbClr val="E3F0FF"/>
          </a:solidFill>
          <a:ln/>
        </p:spPr>
        <p:txBody>
          <a:bodyPr/>
          <a:lstStyle/>
          <a:p>
            <a:endParaRPr lang="pt-BR" noProof="0" dirty="0"/>
          </a:p>
        </p:txBody>
      </p:sp>
      <p:sp>
        <p:nvSpPr>
          <p:cNvPr id="17" name="Text 15"/>
          <p:cNvSpPr/>
          <p:nvPr/>
        </p:nvSpPr>
        <p:spPr>
          <a:xfrm>
            <a:off x="7351776" y="2103120"/>
            <a:ext cx="215798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pt-BR" sz="2100" b="1" noProof="0" dirty="0">
                <a:solidFill>
                  <a:srgbClr val="1565C0"/>
                </a:solidFill>
              </a:rPr>
              <a:t>6.181</a:t>
            </a:r>
            <a:endParaRPr lang="pt-BR" sz="2100" noProof="0" dirty="0"/>
          </a:p>
        </p:txBody>
      </p:sp>
      <p:sp>
        <p:nvSpPr>
          <p:cNvPr id="18" name="Text 16"/>
          <p:cNvSpPr/>
          <p:nvPr/>
        </p:nvSpPr>
        <p:spPr>
          <a:xfrm>
            <a:off x="7351776" y="2697480"/>
            <a:ext cx="215798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10000"/>
              </a:lnSpc>
              <a:buNone/>
            </a:pPr>
            <a:r>
              <a:rPr lang="pt-BR" sz="1100" noProof="0" dirty="0">
                <a:solidFill>
                  <a:srgbClr val="1A1A1A"/>
                </a:solidFill>
              </a:rPr>
              <a:t>timestamps invertidos</a:t>
            </a:r>
            <a:endParaRPr lang="pt-BR" sz="1100" noProof="0" dirty="0"/>
          </a:p>
        </p:txBody>
      </p:sp>
      <p:sp>
        <p:nvSpPr>
          <p:cNvPr id="19" name="Shape 17"/>
          <p:cNvSpPr/>
          <p:nvPr/>
        </p:nvSpPr>
        <p:spPr>
          <a:xfrm>
            <a:off x="9619488" y="1965960"/>
            <a:ext cx="2157984" cy="1371600"/>
          </a:xfrm>
          <a:prstGeom prst="roundRect">
            <a:avLst>
              <a:gd name="adj" fmla="val 5333"/>
            </a:avLst>
          </a:prstGeom>
          <a:solidFill>
            <a:srgbClr val="F4F4F4"/>
          </a:solidFill>
          <a:ln/>
        </p:spPr>
        <p:txBody>
          <a:bodyPr/>
          <a:lstStyle/>
          <a:p>
            <a:endParaRPr lang="pt-BR" noProof="0" dirty="0"/>
          </a:p>
        </p:txBody>
      </p:sp>
      <p:sp>
        <p:nvSpPr>
          <p:cNvPr id="20" name="Text 18"/>
          <p:cNvSpPr/>
          <p:nvPr/>
        </p:nvSpPr>
        <p:spPr>
          <a:xfrm>
            <a:off x="9619488" y="2103120"/>
            <a:ext cx="215798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pt-BR" sz="2100" b="1" noProof="0" dirty="0">
                <a:solidFill>
                  <a:srgbClr val="5A5A5A"/>
                </a:solidFill>
              </a:rPr>
              <a:t>104</a:t>
            </a:r>
            <a:endParaRPr lang="pt-BR" sz="2100" noProof="0" dirty="0"/>
          </a:p>
        </p:txBody>
      </p:sp>
      <p:sp>
        <p:nvSpPr>
          <p:cNvPr id="21" name="Text 19"/>
          <p:cNvSpPr/>
          <p:nvPr/>
        </p:nvSpPr>
        <p:spPr>
          <a:xfrm>
            <a:off x="9619488" y="2697480"/>
            <a:ext cx="215798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10000"/>
              </a:lnSpc>
              <a:buNone/>
            </a:pPr>
            <a:r>
              <a:rPr lang="pt-BR" sz="1100" noProof="0" dirty="0">
                <a:solidFill>
                  <a:srgbClr val="1A1A1A"/>
                </a:solidFill>
              </a:rPr>
              <a:t>fora do período</a:t>
            </a:r>
            <a:endParaRPr lang="pt-BR" sz="1100" noProof="0" dirty="0"/>
          </a:p>
        </p:txBody>
      </p:sp>
      <p:sp>
        <p:nvSpPr>
          <p:cNvPr id="22" name="Shape 20"/>
          <p:cNvSpPr/>
          <p:nvPr/>
        </p:nvSpPr>
        <p:spPr>
          <a:xfrm>
            <a:off x="548640" y="3611880"/>
            <a:ext cx="11064240" cy="914400"/>
          </a:xfrm>
          <a:prstGeom prst="roundRect">
            <a:avLst>
              <a:gd name="adj" fmla="val 8000"/>
            </a:avLst>
          </a:prstGeom>
          <a:solidFill>
            <a:srgbClr val="FDECEA"/>
          </a:solidFill>
          <a:ln/>
        </p:spPr>
        <p:txBody>
          <a:bodyPr/>
          <a:lstStyle/>
          <a:p>
            <a:endParaRPr lang="pt-BR" noProof="0" dirty="0"/>
          </a:p>
        </p:txBody>
      </p:sp>
      <p:sp>
        <p:nvSpPr>
          <p:cNvPr id="23" name="Text 21"/>
          <p:cNvSpPr/>
          <p:nvPr/>
        </p:nvSpPr>
        <p:spPr>
          <a:xfrm>
            <a:off x="777240" y="3794760"/>
            <a:ext cx="10607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pt-BR" sz="1300" noProof="0" dirty="0">
                <a:solidFill>
                  <a:srgbClr val="EA1D2C"/>
                </a:solidFill>
              </a:rPr>
              <a:t>Amplitude temporal real: 2001-01-01 a 2023-09-05  -  datas de outros anos e meses confirmam a necessidade do filtro de janela.</a:t>
            </a:r>
            <a:endParaRPr lang="pt-BR" sz="1300" noProof="0" dirty="0"/>
          </a:p>
        </p:txBody>
      </p:sp>
      <p:sp>
        <p:nvSpPr>
          <p:cNvPr id="24" name="Shape 22"/>
          <p:cNvSpPr/>
          <p:nvPr/>
        </p:nvSpPr>
        <p:spPr>
          <a:xfrm>
            <a:off x="548640" y="4663440"/>
            <a:ext cx="5394960" cy="1097280"/>
          </a:xfrm>
          <a:prstGeom prst="roundRect">
            <a:avLst>
              <a:gd name="adj" fmla="val 6667"/>
            </a:avLst>
          </a:prstGeom>
          <a:solidFill>
            <a:srgbClr val="F4F4F4"/>
          </a:solidFill>
          <a:ln/>
        </p:spPr>
        <p:txBody>
          <a:bodyPr/>
          <a:lstStyle/>
          <a:p>
            <a:endParaRPr lang="pt-BR" noProof="0" dirty="0"/>
          </a:p>
        </p:txBody>
      </p:sp>
      <p:sp>
        <p:nvSpPr>
          <p:cNvPr id="25" name="Text 23"/>
          <p:cNvSpPr/>
          <p:nvPr/>
        </p:nvSpPr>
        <p:spPr>
          <a:xfrm>
            <a:off x="777240" y="4800600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200" b="1" noProof="0" dirty="0">
                <a:solidFill>
                  <a:srgbClr val="1A1A1A"/>
                </a:solidFill>
              </a:rPr>
              <a:t>Valores de total_amount</a:t>
            </a:r>
            <a:endParaRPr lang="pt-BR" sz="1200" noProof="0" dirty="0"/>
          </a:p>
        </p:txBody>
      </p:sp>
      <p:sp>
        <p:nvSpPr>
          <p:cNvPr id="26" name="Text 24"/>
          <p:cNvSpPr/>
          <p:nvPr/>
        </p:nvSpPr>
        <p:spPr>
          <a:xfrm>
            <a:off x="777240" y="5120640"/>
            <a:ext cx="5029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pt-BR" sz="1100" noProof="0" dirty="0">
                <a:solidFill>
                  <a:srgbClr val="1A1A1A"/>
                </a:solidFill>
              </a:rPr>
              <a:t>Min: -US$ 982,95 (estorno)    Max: US$ 6.304,90    Média: US$ 27,84</a:t>
            </a:r>
            <a:endParaRPr lang="pt-BR" sz="1100" noProof="0" dirty="0"/>
          </a:p>
        </p:txBody>
      </p:sp>
      <p:sp>
        <p:nvSpPr>
          <p:cNvPr id="27" name="Shape 25"/>
          <p:cNvSpPr/>
          <p:nvPr/>
        </p:nvSpPr>
        <p:spPr>
          <a:xfrm>
            <a:off x="6217920" y="4663440"/>
            <a:ext cx="5394960" cy="1097280"/>
          </a:xfrm>
          <a:prstGeom prst="roundRect">
            <a:avLst>
              <a:gd name="adj" fmla="val 6667"/>
            </a:avLst>
          </a:prstGeom>
          <a:solidFill>
            <a:srgbClr val="E8F5ED"/>
          </a:solidFill>
          <a:ln/>
        </p:spPr>
        <p:txBody>
          <a:bodyPr/>
          <a:lstStyle/>
          <a:p>
            <a:endParaRPr lang="pt-BR" noProof="0" dirty="0"/>
          </a:p>
        </p:txBody>
      </p:sp>
      <p:sp>
        <p:nvSpPr>
          <p:cNvPr id="28" name="Text 26"/>
          <p:cNvSpPr/>
          <p:nvPr/>
        </p:nvSpPr>
        <p:spPr>
          <a:xfrm>
            <a:off x="6446520" y="4800600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200" b="1" noProof="0" dirty="0">
                <a:solidFill>
                  <a:srgbClr val="1B7A3E"/>
                </a:solidFill>
              </a:rPr>
              <a:t>Conclusão</a:t>
            </a:r>
            <a:endParaRPr lang="pt-BR" sz="1200" noProof="0" dirty="0"/>
          </a:p>
        </p:txBody>
      </p:sp>
      <p:sp>
        <p:nvSpPr>
          <p:cNvPr id="29" name="Text 27"/>
          <p:cNvSpPr/>
          <p:nvPr/>
        </p:nvSpPr>
        <p:spPr>
          <a:xfrm>
            <a:off x="6446520" y="5120640"/>
            <a:ext cx="5029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pt-BR" sz="1100" noProof="0" dirty="0">
                <a:solidFill>
                  <a:srgbClr val="1A1A1A"/>
                </a:solidFill>
              </a:rPr>
              <a:t>94,76% dos dados são aproveitáveis. Nenhuma regra de limpeza e arbitraria: cada uma tem evidencia quantitativa.</a:t>
            </a:r>
            <a:endParaRPr lang="pt-BR" sz="1100" noProof="0" dirty="0"/>
          </a:p>
        </p:txBody>
      </p:sp>
      <p:sp>
        <p:nvSpPr>
          <p:cNvPr id="30" name="Text 28"/>
          <p:cNvSpPr/>
          <p:nvPr/>
        </p:nvSpPr>
        <p:spPr>
          <a:xfrm>
            <a:off x="457200" y="649224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pt-BR" sz="900" noProof="0" dirty="0">
                <a:solidFill>
                  <a:srgbClr val="8A8A8A"/>
                </a:solidFill>
              </a:rPr>
              <a:t>Case Data Architect  |  iFood</a:t>
            </a:r>
            <a:endParaRPr lang="pt-BR" sz="900" noProof="0" dirty="0"/>
          </a:p>
        </p:txBody>
      </p:sp>
      <p:sp>
        <p:nvSpPr>
          <p:cNvPr id="31" name="Text 29"/>
          <p:cNvSpPr/>
          <p:nvPr/>
        </p:nvSpPr>
        <p:spPr>
          <a:xfrm>
            <a:off x="11247120" y="649224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pt-BR" sz="900" noProof="0" dirty="0">
                <a:solidFill>
                  <a:srgbClr val="8A8A8A"/>
                </a:solidFill>
              </a:rPr>
              <a:t>5</a:t>
            </a:r>
            <a:endParaRPr lang="pt-BR" sz="900" noProof="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100" b="1" kern="0" spc="300" noProof="0" dirty="0">
                <a:solidFill>
                  <a:srgbClr val="EA1D2C"/>
                </a:solidFill>
              </a:rPr>
              <a:t>ETAPA 02 - QUALIDADE DE DADOS</a:t>
            </a:r>
            <a:endParaRPr lang="pt-BR" sz="1100" noProof="0" dirty="0"/>
          </a:p>
        </p:txBody>
      </p:sp>
      <p:sp>
        <p:nvSpPr>
          <p:cNvPr id="3" name="Text 1"/>
          <p:cNvSpPr/>
          <p:nvPr/>
        </p:nvSpPr>
        <p:spPr>
          <a:xfrm>
            <a:off x="457200" y="713232"/>
            <a:ext cx="11247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2500" b="1" noProof="0" dirty="0">
                <a:solidFill>
                  <a:srgbClr val="1A1A1A"/>
                </a:solidFill>
              </a:rPr>
              <a:t>Silver: limpeza, quality gate e log</a:t>
            </a:r>
            <a:endParaRPr lang="pt-BR" sz="2500" noProof="0" dirty="0"/>
          </a:p>
        </p:txBody>
      </p:sp>
      <p:sp>
        <p:nvSpPr>
          <p:cNvPr id="4" name="Shape 2"/>
          <p:cNvSpPr/>
          <p:nvPr/>
        </p:nvSpPr>
        <p:spPr>
          <a:xfrm>
            <a:off x="8869680" y="384048"/>
            <a:ext cx="2834640" cy="457200"/>
          </a:xfrm>
          <a:prstGeom prst="roundRect">
            <a:avLst>
              <a:gd name="adj" fmla="val 10000"/>
            </a:avLst>
          </a:prstGeom>
          <a:solidFill>
            <a:srgbClr val="1A1A1A"/>
          </a:solidFill>
          <a:ln/>
        </p:spPr>
        <p:txBody>
          <a:bodyPr/>
          <a:lstStyle/>
          <a:p>
            <a:endParaRPr lang="pt-BR" noProof="0" dirty="0"/>
          </a:p>
        </p:txBody>
      </p:sp>
      <p:sp>
        <p:nvSpPr>
          <p:cNvPr id="5" name="Text 3"/>
          <p:cNvSpPr/>
          <p:nvPr/>
        </p:nvSpPr>
        <p:spPr>
          <a:xfrm>
            <a:off x="8915400" y="384048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pt-BR" sz="1000" b="1" noProof="0" dirty="0">
                <a:solidFill>
                  <a:srgbClr val="EA1D2C"/>
                </a:solidFill>
              </a:rPr>
              <a:t>ARQUIVO 02   </a:t>
            </a:r>
            <a:r>
              <a:rPr lang="pt-BR" sz="1000" noProof="0" dirty="0">
                <a:solidFill>
                  <a:srgbClr val="FFFFFF"/>
                </a:solidFill>
              </a:rPr>
              <a:t>02_silver</a:t>
            </a:r>
            <a:endParaRPr lang="pt-BR" sz="1000" noProof="0" dirty="0"/>
          </a:p>
        </p:txBody>
      </p:sp>
      <p:sp>
        <p:nvSpPr>
          <p:cNvPr id="6" name="Text 4"/>
          <p:cNvSpPr/>
          <p:nvPr/>
        </p:nvSpPr>
        <p:spPr>
          <a:xfrm>
            <a:off x="457200" y="146304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300" b="1" noProof="0" dirty="0">
                <a:solidFill>
                  <a:srgbClr val="1A1A1A"/>
                </a:solidFill>
              </a:rPr>
              <a:t>Regras aplicadas (cada uma justificada pelo profiling):</a:t>
            </a:r>
            <a:endParaRPr lang="pt-BR" sz="1300" noProof="0" dirty="0"/>
          </a:p>
        </p:txBody>
      </p:sp>
      <p:sp>
        <p:nvSpPr>
          <p:cNvPr id="7" name="Shape 5"/>
          <p:cNvSpPr/>
          <p:nvPr/>
        </p:nvSpPr>
        <p:spPr>
          <a:xfrm>
            <a:off x="548640" y="1874520"/>
            <a:ext cx="2157984" cy="868680"/>
          </a:xfrm>
          <a:prstGeom prst="roundRect">
            <a:avLst>
              <a:gd name="adj" fmla="val 6316"/>
            </a:avLst>
          </a:prstGeom>
          <a:solidFill>
            <a:srgbClr val="F4F4F4"/>
          </a:solidFill>
          <a:ln/>
        </p:spPr>
        <p:txBody>
          <a:bodyPr/>
          <a:lstStyle/>
          <a:p>
            <a:endParaRPr lang="pt-BR" noProof="0" dirty="0"/>
          </a:p>
        </p:txBody>
      </p:sp>
      <p:sp>
        <p:nvSpPr>
          <p:cNvPr id="8" name="Text 6"/>
          <p:cNvSpPr/>
          <p:nvPr/>
        </p:nvSpPr>
        <p:spPr>
          <a:xfrm>
            <a:off x="640080" y="1965960"/>
            <a:ext cx="19751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00000"/>
              </a:lnSpc>
              <a:buNone/>
            </a:pPr>
            <a:r>
              <a:rPr lang="pt-BR" sz="1000" b="1" noProof="0" dirty="0">
                <a:solidFill>
                  <a:srgbClr val="1A1A1A"/>
                </a:solidFill>
              </a:rPr>
              <a:t>passenger IS NOT NULL</a:t>
            </a:r>
            <a:endParaRPr lang="pt-BR" sz="1000" noProof="0" dirty="0"/>
          </a:p>
        </p:txBody>
      </p:sp>
      <p:sp>
        <p:nvSpPr>
          <p:cNvPr id="9" name="Text 7"/>
          <p:cNvSpPr/>
          <p:nvPr/>
        </p:nvSpPr>
        <p:spPr>
          <a:xfrm>
            <a:off x="640080" y="2377440"/>
            <a:ext cx="19751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pt-BR" sz="1100" b="1" noProof="0" dirty="0">
                <a:solidFill>
                  <a:srgbClr val="EA1D2C"/>
                </a:solidFill>
              </a:rPr>
              <a:t>-428.665</a:t>
            </a:r>
            <a:endParaRPr lang="pt-BR" sz="1100" noProof="0" dirty="0"/>
          </a:p>
        </p:txBody>
      </p:sp>
      <p:sp>
        <p:nvSpPr>
          <p:cNvPr id="10" name="Shape 8"/>
          <p:cNvSpPr/>
          <p:nvPr/>
        </p:nvSpPr>
        <p:spPr>
          <a:xfrm>
            <a:off x="2816352" y="1874520"/>
            <a:ext cx="2157984" cy="868680"/>
          </a:xfrm>
          <a:prstGeom prst="roundRect">
            <a:avLst>
              <a:gd name="adj" fmla="val 6316"/>
            </a:avLst>
          </a:prstGeom>
          <a:solidFill>
            <a:srgbClr val="F4F4F4"/>
          </a:solidFill>
          <a:ln/>
        </p:spPr>
        <p:txBody>
          <a:bodyPr/>
          <a:lstStyle/>
          <a:p>
            <a:endParaRPr lang="pt-BR" noProof="0" dirty="0"/>
          </a:p>
        </p:txBody>
      </p:sp>
      <p:sp>
        <p:nvSpPr>
          <p:cNvPr id="11" name="Text 9"/>
          <p:cNvSpPr/>
          <p:nvPr/>
        </p:nvSpPr>
        <p:spPr>
          <a:xfrm>
            <a:off x="2907792" y="1965960"/>
            <a:ext cx="19751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00000"/>
              </a:lnSpc>
              <a:buNone/>
            </a:pPr>
            <a:r>
              <a:rPr lang="pt-BR" sz="1000" b="1" noProof="0" dirty="0">
                <a:solidFill>
                  <a:srgbClr val="1A1A1A"/>
                </a:solidFill>
              </a:rPr>
              <a:t>passenger &gt; 0</a:t>
            </a:r>
            <a:endParaRPr lang="pt-BR" sz="1000" noProof="0" dirty="0"/>
          </a:p>
        </p:txBody>
      </p:sp>
      <p:sp>
        <p:nvSpPr>
          <p:cNvPr id="12" name="Text 10"/>
          <p:cNvSpPr/>
          <p:nvPr/>
        </p:nvSpPr>
        <p:spPr>
          <a:xfrm>
            <a:off x="2907792" y="2377440"/>
            <a:ext cx="19751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pt-BR" sz="1100" b="1" noProof="0" dirty="0">
                <a:solidFill>
                  <a:srgbClr val="EA1D2C"/>
                </a:solidFill>
              </a:rPr>
              <a:t>-273.481</a:t>
            </a:r>
            <a:endParaRPr lang="pt-BR" sz="1100" noProof="0" dirty="0"/>
          </a:p>
        </p:txBody>
      </p:sp>
      <p:sp>
        <p:nvSpPr>
          <p:cNvPr id="13" name="Shape 11"/>
          <p:cNvSpPr/>
          <p:nvPr/>
        </p:nvSpPr>
        <p:spPr>
          <a:xfrm>
            <a:off x="5084064" y="1874520"/>
            <a:ext cx="2157984" cy="868680"/>
          </a:xfrm>
          <a:prstGeom prst="roundRect">
            <a:avLst>
              <a:gd name="adj" fmla="val 6316"/>
            </a:avLst>
          </a:prstGeom>
          <a:solidFill>
            <a:srgbClr val="F4F4F4"/>
          </a:solidFill>
          <a:ln/>
        </p:spPr>
        <p:txBody>
          <a:bodyPr/>
          <a:lstStyle/>
          <a:p>
            <a:endParaRPr lang="pt-BR" noProof="0" dirty="0"/>
          </a:p>
        </p:txBody>
      </p:sp>
      <p:sp>
        <p:nvSpPr>
          <p:cNvPr id="14" name="Text 12"/>
          <p:cNvSpPr/>
          <p:nvPr/>
        </p:nvSpPr>
        <p:spPr>
          <a:xfrm>
            <a:off x="5175504" y="1965960"/>
            <a:ext cx="19751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00000"/>
              </a:lnSpc>
              <a:buNone/>
            </a:pPr>
            <a:r>
              <a:rPr lang="pt-BR" sz="1000" b="1" noProof="0" dirty="0">
                <a:solidFill>
                  <a:srgbClr val="1A1A1A"/>
                </a:solidFill>
              </a:rPr>
              <a:t>total_amount &gt;= 0</a:t>
            </a:r>
            <a:endParaRPr lang="pt-BR" sz="1000" noProof="0" dirty="0"/>
          </a:p>
        </p:txBody>
      </p:sp>
      <p:sp>
        <p:nvSpPr>
          <p:cNvPr id="15" name="Text 13"/>
          <p:cNvSpPr/>
          <p:nvPr/>
        </p:nvSpPr>
        <p:spPr>
          <a:xfrm>
            <a:off x="5175504" y="2377440"/>
            <a:ext cx="19751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pt-BR" sz="1100" b="1" noProof="0" dirty="0">
                <a:solidFill>
                  <a:srgbClr val="EA1D2C"/>
                </a:solidFill>
              </a:rPr>
              <a:t>-141.407</a:t>
            </a:r>
            <a:endParaRPr lang="pt-BR" sz="1100" noProof="0" dirty="0"/>
          </a:p>
        </p:txBody>
      </p:sp>
      <p:sp>
        <p:nvSpPr>
          <p:cNvPr id="16" name="Shape 14"/>
          <p:cNvSpPr/>
          <p:nvPr/>
        </p:nvSpPr>
        <p:spPr>
          <a:xfrm>
            <a:off x="7351776" y="1874520"/>
            <a:ext cx="2157984" cy="868680"/>
          </a:xfrm>
          <a:prstGeom prst="roundRect">
            <a:avLst>
              <a:gd name="adj" fmla="val 6316"/>
            </a:avLst>
          </a:prstGeom>
          <a:solidFill>
            <a:srgbClr val="F4F4F4"/>
          </a:solidFill>
          <a:ln/>
        </p:spPr>
        <p:txBody>
          <a:bodyPr/>
          <a:lstStyle/>
          <a:p>
            <a:endParaRPr lang="pt-BR" noProof="0" dirty="0"/>
          </a:p>
        </p:txBody>
      </p:sp>
      <p:sp>
        <p:nvSpPr>
          <p:cNvPr id="17" name="Text 15"/>
          <p:cNvSpPr/>
          <p:nvPr/>
        </p:nvSpPr>
        <p:spPr>
          <a:xfrm>
            <a:off x="7443216" y="1965960"/>
            <a:ext cx="19751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00000"/>
              </a:lnSpc>
              <a:buNone/>
            </a:pPr>
            <a:r>
              <a:rPr lang="pt-BR" sz="1000" b="1" noProof="0" dirty="0">
                <a:solidFill>
                  <a:srgbClr val="1A1A1A"/>
                </a:solidFill>
              </a:rPr>
              <a:t>dropoff &gt; pickup</a:t>
            </a:r>
            <a:endParaRPr lang="pt-BR" sz="1000" noProof="0" dirty="0"/>
          </a:p>
        </p:txBody>
      </p:sp>
      <p:sp>
        <p:nvSpPr>
          <p:cNvPr id="18" name="Text 16"/>
          <p:cNvSpPr/>
          <p:nvPr/>
        </p:nvSpPr>
        <p:spPr>
          <a:xfrm>
            <a:off x="7443216" y="2377440"/>
            <a:ext cx="19751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pt-BR" sz="1100" b="1" noProof="0" dirty="0">
                <a:solidFill>
                  <a:srgbClr val="EA1D2C"/>
                </a:solidFill>
              </a:rPr>
              <a:t>-6.181</a:t>
            </a:r>
            <a:endParaRPr lang="pt-BR" sz="1100" noProof="0" dirty="0"/>
          </a:p>
        </p:txBody>
      </p:sp>
      <p:sp>
        <p:nvSpPr>
          <p:cNvPr id="19" name="Shape 17"/>
          <p:cNvSpPr/>
          <p:nvPr/>
        </p:nvSpPr>
        <p:spPr>
          <a:xfrm>
            <a:off x="9619488" y="1874520"/>
            <a:ext cx="2157984" cy="868680"/>
          </a:xfrm>
          <a:prstGeom prst="roundRect">
            <a:avLst>
              <a:gd name="adj" fmla="val 6316"/>
            </a:avLst>
          </a:prstGeom>
          <a:solidFill>
            <a:srgbClr val="F4F4F4"/>
          </a:solidFill>
          <a:ln/>
        </p:spPr>
        <p:txBody>
          <a:bodyPr/>
          <a:lstStyle/>
          <a:p>
            <a:endParaRPr lang="pt-BR" noProof="0" dirty="0"/>
          </a:p>
        </p:txBody>
      </p:sp>
      <p:sp>
        <p:nvSpPr>
          <p:cNvPr id="20" name="Text 18"/>
          <p:cNvSpPr/>
          <p:nvPr/>
        </p:nvSpPr>
        <p:spPr>
          <a:xfrm>
            <a:off x="9710928" y="1965960"/>
            <a:ext cx="19751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00000"/>
              </a:lnSpc>
              <a:buNone/>
            </a:pPr>
            <a:r>
              <a:rPr lang="pt-BR" sz="1000" b="1" noProof="0" dirty="0">
                <a:solidFill>
                  <a:srgbClr val="1A1A1A"/>
                </a:solidFill>
              </a:rPr>
              <a:t>janela jan-mai/2023</a:t>
            </a:r>
            <a:endParaRPr lang="pt-BR" sz="1000" noProof="0" dirty="0"/>
          </a:p>
        </p:txBody>
      </p:sp>
      <p:sp>
        <p:nvSpPr>
          <p:cNvPr id="21" name="Text 19"/>
          <p:cNvSpPr/>
          <p:nvPr/>
        </p:nvSpPr>
        <p:spPr>
          <a:xfrm>
            <a:off x="9710928" y="2377440"/>
            <a:ext cx="19751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pt-BR" sz="1100" b="1" noProof="0" dirty="0">
                <a:solidFill>
                  <a:srgbClr val="EA1D2C"/>
                </a:solidFill>
              </a:rPr>
              <a:t>-104</a:t>
            </a:r>
            <a:endParaRPr lang="pt-BR" sz="1100" noProof="0" dirty="0"/>
          </a:p>
        </p:txBody>
      </p:sp>
      <p:sp>
        <p:nvSpPr>
          <p:cNvPr id="22" name="Shape 20"/>
          <p:cNvSpPr/>
          <p:nvPr/>
        </p:nvSpPr>
        <p:spPr>
          <a:xfrm>
            <a:off x="548640" y="2971800"/>
            <a:ext cx="5394960" cy="1371600"/>
          </a:xfrm>
          <a:prstGeom prst="roundRect">
            <a:avLst>
              <a:gd name="adj" fmla="val 5333"/>
            </a:avLst>
          </a:prstGeom>
          <a:solidFill>
            <a:srgbClr val="1A1A1A"/>
          </a:solidFill>
          <a:ln/>
        </p:spPr>
        <p:txBody>
          <a:bodyPr/>
          <a:lstStyle/>
          <a:p>
            <a:endParaRPr lang="pt-BR" noProof="0" dirty="0"/>
          </a:p>
        </p:txBody>
      </p:sp>
      <p:sp>
        <p:nvSpPr>
          <p:cNvPr id="23" name="Text 21"/>
          <p:cNvSpPr/>
          <p:nvPr/>
        </p:nvSpPr>
        <p:spPr>
          <a:xfrm>
            <a:off x="777240" y="310896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200" b="1" kern="0" spc="100" noProof="0" dirty="0">
                <a:solidFill>
                  <a:srgbClr val="EA1D2C"/>
                </a:solidFill>
              </a:rPr>
              <a:t>RESULTADO</a:t>
            </a:r>
            <a:endParaRPr lang="pt-BR" sz="1200" noProof="0" dirty="0"/>
          </a:p>
        </p:txBody>
      </p:sp>
      <p:sp>
        <p:nvSpPr>
          <p:cNvPr id="24" name="Text 22"/>
          <p:cNvSpPr/>
          <p:nvPr/>
        </p:nvSpPr>
        <p:spPr>
          <a:xfrm>
            <a:off x="777240" y="3429000"/>
            <a:ext cx="49377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pt-BR" sz="1400" noProof="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Bronze:  16.186.386</a:t>
            </a:r>
            <a:endParaRPr lang="pt-BR" sz="1400" noProof="0" dirty="0"/>
          </a:p>
          <a:p>
            <a:pPr marL="0" indent="0">
              <a:lnSpc>
                <a:spcPct val="120000"/>
              </a:lnSpc>
              <a:buNone/>
            </a:pPr>
            <a:r>
              <a:rPr lang="pt-BR" sz="1400" noProof="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Silver:   15.337.137</a:t>
            </a:r>
            <a:endParaRPr lang="pt-BR" sz="1400" noProof="0" dirty="0"/>
          </a:p>
          <a:p>
            <a:pPr marL="0" indent="0">
              <a:lnSpc>
                <a:spcPct val="120000"/>
              </a:lnSpc>
              <a:buNone/>
            </a:pPr>
            <a:r>
              <a:rPr lang="pt-BR" sz="1400" noProof="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Aproveitamento: 94,76%</a:t>
            </a:r>
            <a:endParaRPr lang="pt-BR" sz="1400" noProof="0" dirty="0"/>
          </a:p>
        </p:txBody>
      </p:sp>
      <p:sp>
        <p:nvSpPr>
          <p:cNvPr id="25" name="Shape 23"/>
          <p:cNvSpPr/>
          <p:nvPr/>
        </p:nvSpPr>
        <p:spPr>
          <a:xfrm>
            <a:off x="6217920" y="2971800"/>
            <a:ext cx="5394960" cy="1371600"/>
          </a:xfrm>
          <a:prstGeom prst="roundRect">
            <a:avLst>
              <a:gd name="adj" fmla="val 5333"/>
            </a:avLst>
          </a:prstGeom>
          <a:solidFill>
            <a:srgbClr val="E8F5ED"/>
          </a:solidFill>
          <a:ln/>
        </p:spPr>
        <p:txBody>
          <a:bodyPr/>
          <a:lstStyle/>
          <a:p>
            <a:endParaRPr lang="pt-BR" noProof="0" dirty="0"/>
          </a:p>
        </p:txBody>
      </p:sp>
      <p:sp>
        <p:nvSpPr>
          <p:cNvPr id="26" name="Text 24"/>
          <p:cNvSpPr/>
          <p:nvPr/>
        </p:nvSpPr>
        <p:spPr>
          <a:xfrm>
            <a:off x="6446520" y="310896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200" b="1" kern="0" spc="100" noProof="0" dirty="0">
                <a:solidFill>
                  <a:srgbClr val="1B7A3E"/>
                </a:solidFill>
              </a:rPr>
              <a:t>QUALITY GATE</a:t>
            </a:r>
            <a:endParaRPr lang="pt-BR" sz="1200" noProof="0" dirty="0"/>
          </a:p>
        </p:txBody>
      </p:sp>
      <p:sp>
        <p:nvSpPr>
          <p:cNvPr id="27" name="Text 25"/>
          <p:cNvSpPr/>
          <p:nvPr/>
        </p:nvSpPr>
        <p:spPr>
          <a:xfrm>
            <a:off x="6446520" y="3474720"/>
            <a:ext cx="4937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2800" b="1" noProof="0" dirty="0">
                <a:solidFill>
                  <a:srgbClr val="1B7A3E"/>
                </a:solidFill>
              </a:rPr>
              <a:t>0</a:t>
            </a:r>
            <a:r>
              <a:rPr lang="pt-BR" sz="1200" noProof="0" dirty="0">
                <a:solidFill>
                  <a:srgbClr val="1A1A1A"/>
                </a:solidFill>
              </a:rPr>
              <a:t>  negativos    </a:t>
            </a:r>
            <a:r>
              <a:rPr lang="pt-BR" sz="2800" b="1" noProof="0" dirty="0">
                <a:solidFill>
                  <a:srgbClr val="1B7A3E"/>
                </a:solidFill>
              </a:rPr>
              <a:t>0</a:t>
            </a:r>
            <a:r>
              <a:rPr lang="pt-BR" sz="1200" noProof="0" dirty="0">
                <a:solidFill>
                  <a:srgbClr val="1A1A1A"/>
                </a:solidFill>
              </a:rPr>
              <a:t>  pax&lt;=0    </a:t>
            </a:r>
            <a:r>
              <a:rPr lang="pt-BR" sz="2800" b="1" noProof="0" dirty="0">
                <a:solidFill>
                  <a:srgbClr val="1B7A3E"/>
                </a:solidFill>
              </a:rPr>
              <a:t>0</a:t>
            </a:r>
            <a:r>
              <a:rPr lang="pt-BR" sz="1200" noProof="0" dirty="0">
                <a:solidFill>
                  <a:srgbClr val="1A1A1A"/>
                </a:solidFill>
              </a:rPr>
              <a:t>  tempo</a:t>
            </a:r>
            <a:endParaRPr lang="pt-BR" sz="2800" noProof="0" dirty="0"/>
          </a:p>
        </p:txBody>
      </p:sp>
      <p:sp>
        <p:nvSpPr>
          <p:cNvPr id="28" name="Text 26"/>
          <p:cNvSpPr/>
          <p:nvPr/>
        </p:nvSpPr>
        <p:spPr>
          <a:xfrm>
            <a:off x="6446520" y="4023360"/>
            <a:ext cx="4937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100" i="1" noProof="0" dirty="0">
                <a:solidFill>
                  <a:srgbClr val="1A1A1A"/>
                </a:solidFill>
              </a:rPr>
              <a:t>Zero violações após a limpeza</a:t>
            </a:r>
            <a:endParaRPr lang="pt-BR" sz="1100" noProof="0" dirty="0"/>
          </a:p>
        </p:txBody>
      </p:sp>
      <p:sp>
        <p:nvSpPr>
          <p:cNvPr id="29" name="Shape 27"/>
          <p:cNvSpPr/>
          <p:nvPr/>
        </p:nvSpPr>
        <p:spPr>
          <a:xfrm>
            <a:off x="548640" y="4526280"/>
            <a:ext cx="11064240" cy="1234440"/>
          </a:xfrm>
          <a:prstGeom prst="roundRect">
            <a:avLst>
              <a:gd name="adj" fmla="val 5926"/>
            </a:avLst>
          </a:prstGeom>
          <a:solidFill>
            <a:srgbClr val="FDECEA"/>
          </a:solidFill>
          <a:ln/>
        </p:spPr>
        <p:txBody>
          <a:bodyPr/>
          <a:lstStyle/>
          <a:p>
            <a:endParaRPr lang="pt-BR" noProof="0" dirty="0"/>
          </a:p>
        </p:txBody>
      </p:sp>
      <p:sp>
        <p:nvSpPr>
          <p:cNvPr id="30" name="Text 28"/>
          <p:cNvSpPr/>
          <p:nvPr/>
        </p:nvSpPr>
        <p:spPr>
          <a:xfrm>
            <a:off x="777240" y="4663440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200" b="1" kern="0" spc="100" noProof="0" dirty="0">
                <a:solidFill>
                  <a:srgbClr val="EA1D2C"/>
                </a:solidFill>
              </a:rPr>
              <a:t>QUALITY LOG - o diferencial de governança</a:t>
            </a:r>
            <a:endParaRPr lang="pt-BR" sz="1200" noProof="0" dirty="0"/>
          </a:p>
        </p:txBody>
      </p:sp>
      <p:sp>
        <p:nvSpPr>
          <p:cNvPr id="31" name="Text 29"/>
          <p:cNvSpPr/>
          <p:nvPr/>
        </p:nvSpPr>
        <p:spPr>
          <a:xfrm>
            <a:off x="777240" y="4983480"/>
            <a:ext cx="10607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pt-BR" sz="1300" noProof="0" dirty="0">
                <a:solidFill>
                  <a:srgbClr val="1A1A1A"/>
                </a:solidFill>
              </a:rPr>
              <a:t>Cada execução é persistida numa tabela Delta. Duas cargas registradas (26 e 27/06), mesmo resultado: prova que o pipeline e reprodutível e a qualidade e auditável ao longo do tempo. Não é um teste pontual, é um histórico.</a:t>
            </a:r>
            <a:endParaRPr lang="pt-BR" sz="1300" noProof="0" dirty="0"/>
          </a:p>
        </p:txBody>
      </p:sp>
      <p:sp>
        <p:nvSpPr>
          <p:cNvPr id="32" name="Text 30"/>
          <p:cNvSpPr/>
          <p:nvPr/>
        </p:nvSpPr>
        <p:spPr>
          <a:xfrm>
            <a:off x="457200" y="649224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pt-BR" sz="900" noProof="0" dirty="0">
                <a:solidFill>
                  <a:srgbClr val="8A8A8A"/>
                </a:solidFill>
              </a:rPr>
              <a:t>Case Data Architect  |  iFood</a:t>
            </a:r>
            <a:endParaRPr lang="pt-BR" sz="900" noProof="0" dirty="0"/>
          </a:p>
        </p:txBody>
      </p:sp>
      <p:sp>
        <p:nvSpPr>
          <p:cNvPr id="33" name="Text 31"/>
          <p:cNvSpPr/>
          <p:nvPr/>
        </p:nvSpPr>
        <p:spPr>
          <a:xfrm>
            <a:off x="11247120" y="649224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pt-BR" sz="900" noProof="0" dirty="0">
                <a:solidFill>
                  <a:srgbClr val="8A8A8A"/>
                </a:solidFill>
              </a:rPr>
              <a:t>6</a:t>
            </a:r>
            <a:endParaRPr lang="pt-BR" sz="900" noProof="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100" b="1" kern="0" spc="300" noProof="0" dirty="0">
                <a:solidFill>
                  <a:srgbClr val="EA1D2C"/>
                </a:solidFill>
              </a:rPr>
              <a:t>ETAPA 03</a:t>
            </a:r>
            <a:endParaRPr lang="pt-BR" sz="1100" noProof="0" dirty="0"/>
          </a:p>
        </p:txBody>
      </p:sp>
      <p:sp>
        <p:nvSpPr>
          <p:cNvPr id="3" name="Text 1"/>
          <p:cNvSpPr/>
          <p:nvPr/>
        </p:nvSpPr>
        <p:spPr>
          <a:xfrm>
            <a:off x="457200" y="713232"/>
            <a:ext cx="11247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2500" b="1" noProof="0" dirty="0">
                <a:solidFill>
                  <a:srgbClr val="1A1A1A"/>
                </a:solidFill>
              </a:rPr>
              <a:t>Gold: consumo e time travel</a:t>
            </a:r>
            <a:endParaRPr lang="pt-BR" sz="2500" noProof="0" dirty="0"/>
          </a:p>
        </p:txBody>
      </p:sp>
      <p:sp>
        <p:nvSpPr>
          <p:cNvPr id="4" name="Shape 2"/>
          <p:cNvSpPr/>
          <p:nvPr/>
        </p:nvSpPr>
        <p:spPr>
          <a:xfrm>
            <a:off x="8869680" y="384048"/>
            <a:ext cx="2834640" cy="457200"/>
          </a:xfrm>
          <a:prstGeom prst="roundRect">
            <a:avLst>
              <a:gd name="adj" fmla="val 10000"/>
            </a:avLst>
          </a:prstGeom>
          <a:solidFill>
            <a:srgbClr val="1A1A1A"/>
          </a:solidFill>
          <a:ln/>
        </p:spPr>
        <p:txBody>
          <a:bodyPr/>
          <a:lstStyle/>
          <a:p>
            <a:endParaRPr lang="pt-BR" noProof="0" dirty="0"/>
          </a:p>
        </p:txBody>
      </p:sp>
      <p:sp>
        <p:nvSpPr>
          <p:cNvPr id="5" name="Text 3"/>
          <p:cNvSpPr/>
          <p:nvPr/>
        </p:nvSpPr>
        <p:spPr>
          <a:xfrm>
            <a:off x="8915400" y="384048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pt-BR" sz="1000" b="1" noProof="0" dirty="0">
                <a:solidFill>
                  <a:srgbClr val="EA1D2C"/>
                </a:solidFill>
              </a:rPr>
              <a:t>ARQUIVO 03   </a:t>
            </a:r>
            <a:r>
              <a:rPr lang="pt-BR" sz="1000" noProof="0" dirty="0">
                <a:solidFill>
                  <a:srgbClr val="FFFFFF"/>
                </a:solidFill>
              </a:rPr>
              <a:t>03_gold</a:t>
            </a:r>
            <a:endParaRPr lang="pt-BR" sz="1000" noProof="0" dirty="0"/>
          </a:p>
        </p:txBody>
      </p:sp>
      <p:sp>
        <p:nvSpPr>
          <p:cNvPr id="6" name="Shape 4"/>
          <p:cNvSpPr/>
          <p:nvPr/>
        </p:nvSpPr>
        <p:spPr>
          <a:xfrm>
            <a:off x="548640" y="1691640"/>
            <a:ext cx="5394960" cy="2194560"/>
          </a:xfrm>
          <a:prstGeom prst="roundRect">
            <a:avLst>
              <a:gd name="adj" fmla="val 3333"/>
            </a:avLst>
          </a:prstGeom>
          <a:solidFill>
            <a:srgbClr val="F4F4F4"/>
          </a:solidFill>
          <a:ln/>
        </p:spPr>
        <p:txBody>
          <a:bodyPr/>
          <a:lstStyle/>
          <a:p>
            <a:endParaRPr lang="pt-BR" noProof="0" dirty="0"/>
          </a:p>
        </p:txBody>
      </p:sp>
      <p:sp>
        <p:nvSpPr>
          <p:cNvPr id="7" name="Text 5"/>
          <p:cNvSpPr/>
          <p:nvPr/>
        </p:nvSpPr>
        <p:spPr>
          <a:xfrm>
            <a:off x="777240" y="182880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300" b="1" kern="0" spc="100" noProof="0" dirty="0">
                <a:solidFill>
                  <a:srgbClr val="EA1D2C"/>
                </a:solidFill>
              </a:rPr>
              <a:t>TABELAS DE CONSUMO</a:t>
            </a:r>
            <a:endParaRPr lang="pt-BR" sz="1300" noProof="0" dirty="0"/>
          </a:p>
        </p:txBody>
      </p:sp>
      <p:sp>
        <p:nvSpPr>
          <p:cNvPr id="8" name="Text 6"/>
          <p:cNvSpPr/>
          <p:nvPr/>
        </p:nvSpPr>
        <p:spPr>
          <a:xfrm>
            <a:off x="868680" y="2194560"/>
            <a:ext cx="493776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ct val="125000"/>
              </a:lnSpc>
              <a:buSzPct val="100000"/>
              <a:buChar char="•"/>
            </a:pPr>
            <a:r>
              <a:rPr lang="pt-BR" sz="1300" b="1" noProof="0" dirty="0">
                <a:solidFill>
                  <a:srgbClr val="1A1A1A"/>
                </a:solidFill>
              </a:rPr>
              <a:t>gold.receita_mensal</a:t>
            </a:r>
            <a:endParaRPr lang="pt-BR" sz="1300" noProof="0" dirty="0"/>
          </a:p>
          <a:p>
            <a:pPr marL="0" indent="0">
              <a:lnSpc>
                <a:spcPct val="125000"/>
              </a:lnSpc>
              <a:buNone/>
            </a:pPr>
            <a:r>
              <a:rPr lang="pt-BR" sz="1100" noProof="0" dirty="0">
                <a:solidFill>
                  <a:srgbClr val="5A5A5A"/>
                </a:solidFill>
              </a:rPr>
              <a:t>receita total e ticket médio por mês</a:t>
            </a:r>
            <a:endParaRPr lang="pt-BR" sz="1300" noProof="0" dirty="0"/>
          </a:p>
          <a:p>
            <a:pPr marL="342900" indent="-342900">
              <a:lnSpc>
                <a:spcPct val="125000"/>
              </a:lnSpc>
              <a:buSzPct val="100000"/>
              <a:buChar char="•"/>
            </a:pPr>
            <a:r>
              <a:rPr lang="pt-BR" sz="1300" b="1" noProof="0" dirty="0">
                <a:solidFill>
                  <a:srgbClr val="1A1A1A"/>
                </a:solidFill>
              </a:rPr>
              <a:t>gold.passageiros_por_hora</a:t>
            </a:r>
            <a:endParaRPr lang="pt-BR" sz="1300" noProof="0" dirty="0"/>
          </a:p>
          <a:p>
            <a:pPr marL="0" indent="0">
              <a:lnSpc>
                <a:spcPct val="125000"/>
              </a:lnSpc>
              <a:buNone/>
            </a:pPr>
            <a:r>
              <a:rPr lang="pt-BR" sz="1100" noProof="0" dirty="0">
                <a:solidFill>
                  <a:srgbClr val="5A5A5A"/>
                </a:solidFill>
              </a:rPr>
              <a:t>media de passageiros por hora do dia</a:t>
            </a:r>
            <a:endParaRPr lang="pt-BR" sz="1300" noProof="0" dirty="0"/>
          </a:p>
          <a:p>
            <a:pPr marL="0" indent="0">
              <a:lnSpc>
                <a:spcPct val="125000"/>
              </a:lnSpc>
              <a:buNone/>
            </a:pPr>
            <a:r>
              <a:rPr lang="pt-BR" sz="1100" i="1" noProof="0" dirty="0">
                <a:solidFill>
                  <a:srgbClr val="1A1A1A"/>
                </a:solidFill>
              </a:rPr>
              <a:t>O usuário consome via SQL, sem conhecer as camadas anteriores.</a:t>
            </a:r>
            <a:endParaRPr lang="pt-BR" sz="1300" noProof="0" dirty="0"/>
          </a:p>
        </p:txBody>
      </p:sp>
      <p:sp>
        <p:nvSpPr>
          <p:cNvPr id="9" name="Shape 7"/>
          <p:cNvSpPr/>
          <p:nvPr/>
        </p:nvSpPr>
        <p:spPr>
          <a:xfrm>
            <a:off x="6217920" y="1691640"/>
            <a:ext cx="5394960" cy="2194560"/>
          </a:xfrm>
          <a:prstGeom prst="roundRect">
            <a:avLst>
              <a:gd name="adj" fmla="val 3333"/>
            </a:avLst>
          </a:prstGeom>
          <a:solidFill>
            <a:srgbClr val="1A1A1A"/>
          </a:solidFill>
          <a:ln/>
        </p:spPr>
        <p:txBody>
          <a:bodyPr/>
          <a:lstStyle/>
          <a:p>
            <a:endParaRPr lang="pt-BR" noProof="0" dirty="0"/>
          </a:p>
        </p:txBody>
      </p:sp>
      <p:sp>
        <p:nvSpPr>
          <p:cNvPr id="10" name="Text 8"/>
          <p:cNvSpPr/>
          <p:nvPr/>
        </p:nvSpPr>
        <p:spPr>
          <a:xfrm>
            <a:off x="6446520" y="1828800"/>
            <a:ext cx="5029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300" b="1" kern="0" spc="100" noProof="0" dirty="0">
                <a:solidFill>
                  <a:srgbClr val="EA1D2C"/>
                </a:solidFill>
              </a:rPr>
              <a:t>TIME TRAVEL (Delta Lake)</a:t>
            </a:r>
            <a:endParaRPr lang="pt-BR" sz="1300" noProof="0" dirty="0"/>
          </a:p>
        </p:txBody>
      </p:sp>
      <p:sp>
        <p:nvSpPr>
          <p:cNvPr id="11" name="Text 9"/>
          <p:cNvSpPr/>
          <p:nvPr/>
        </p:nvSpPr>
        <p:spPr>
          <a:xfrm>
            <a:off x="6446520" y="2194560"/>
            <a:ext cx="49377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pt-BR" sz="1200" noProof="0" dirty="0">
                <a:solidFill>
                  <a:srgbClr val="CFCFCF"/>
                </a:solidFill>
              </a:rPr>
              <a:t>DESCRIBE HISTORY mostra todas as versões da tabela. VERSION AS OF permite consultar qualquer estado anterior.</a:t>
            </a:r>
            <a:endParaRPr lang="pt-BR" sz="1200" noProof="0" dirty="0"/>
          </a:p>
        </p:txBody>
      </p:sp>
      <p:sp>
        <p:nvSpPr>
          <p:cNvPr id="12" name="Text 10"/>
          <p:cNvSpPr/>
          <p:nvPr/>
        </p:nvSpPr>
        <p:spPr>
          <a:xfrm>
            <a:off x="6446520" y="2971800"/>
            <a:ext cx="4937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100" noProof="0" dirty="0">
                <a:solidFill>
                  <a:srgbClr val="9CDCF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SELECT * FROM silver.yellow_trips</a:t>
            </a:r>
            <a:endParaRPr lang="pt-BR" sz="1100" noProof="0" dirty="0"/>
          </a:p>
          <a:p>
            <a:pPr marL="0" indent="0">
              <a:buNone/>
            </a:pPr>
            <a:r>
              <a:rPr lang="pt-BR" sz="1100" noProof="0" dirty="0">
                <a:solidFill>
                  <a:srgbClr val="9CDCF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VERSION AS OF 0;</a:t>
            </a:r>
            <a:endParaRPr lang="pt-BR" sz="1100" noProof="0" dirty="0"/>
          </a:p>
        </p:txBody>
      </p:sp>
      <p:sp>
        <p:nvSpPr>
          <p:cNvPr id="13" name="Text 11"/>
          <p:cNvSpPr/>
          <p:nvPr/>
        </p:nvSpPr>
        <p:spPr>
          <a:xfrm>
            <a:off x="6446520" y="3520440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100" b="1" i="1" noProof="0" dirty="0">
                <a:solidFill>
                  <a:srgbClr val="1B7A3E"/>
                </a:solidFill>
              </a:rPr>
              <a:t>Em caso de incidente, restauro o estado exato antes da falha.</a:t>
            </a:r>
            <a:endParaRPr lang="pt-BR" sz="1100" noProof="0" dirty="0"/>
          </a:p>
        </p:txBody>
      </p:sp>
      <p:sp>
        <p:nvSpPr>
          <p:cNvPr id="14" name="Shape 12"/>
          <p:cNvSpPr/>
          <p:nvPr/>
        </p:nvSpPr>
        <p:spPr>
          <a:xfrm>
            <a:off x="548640" y="4069080"/>
            <a:ext cx="11064240" cy="1463040"/>
          </a:xfrm>
          <a:prstGeom prst="roundRect">
            <a:avLst>
              <a:gd name="adj" fmla="val 5000"/>
            </a:avLst>
          </a:prstGeom>
          <a:solidFill>
            <a:srgbClr val="FEF3C7"/>
          </a:solidFill>
          <a:ln/>
        </p:spPr>
        <p:txBody>
          <a:bodyPr/>
          <a:lstStyle/>
          <a:p>
            <a:endParaRPr lang="pt-BR" noProof="0" dirty="0"/>
          </a:p>
        </p:txBody>
      </p:sp>
      <p:sp>
        <p:nvSpPr>
          <p:cNvPr id="15" name="Text 13"/>
          <p:cNvSpPr/>
          <p:nvPr/>
        </p:nvSpPr>
        <p:spPr>
          <a:xfrm>
            <a:off x="777240" y="4206240"/>
            <a:ext cx="10607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300" b="1" noProof="0" dirty="0">
                <a:solidFill>
                  <a:srgbClr val="B45309"/>
                </a:solidFill>
              </a:rPr>
              <a:t>Auditoria e recuperação de ponta a ponta</a:t>
            </a:r>
            <a:endParaRPr lang="pt-BR" sz="1300" noProof="0" dirty="0"/>
          </a:p>
        </p:txBody>
      </p:sp>
      <p:sp>
        <p:nvSpPr>
          <p:cNvPr id="16" name="Text 14"/>
          <p:cNvSpPr/>
          <p:nvPr/>
        </p:nvSpPr>
        <p:spPr>
          <a:xfrm>
            <a:off x="777240" y="4572000"/>
            <a:ext cx="106070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pt-BR" sz="1300" noProof="0" dirty="0">
                <a:solidFill>
                  <a:srgbClr val="1A1A1A"/>
                </a:solidFill>
              </a:rPr>
              <a:t>A combinação de _ingestão_ts na Bronze, DESCRIBE HISTORY no Delta e quality_log na Silver responde as três perguntas de governança: de onde veio o dado, o que foi feito com ele e quando. Isso e o fundamento técnico que ferramentas como o Collibra expõem visualmente.</a:t>
            </a:r>
            <a:endParaRPr lang="pt-BR" sz="1300" noProof="0" dirty="0"/>
          </a:p>
        </p:txBody>
      </p:sp>
      <p:sp>
        <p:nvSpPr>
          <p:cNvPr id="17" name="Text 15"/>
          <p:cNvSpPr/>
          <p:nvPr/>
        </p:nvSpPr>
        <p:spPr>
          <a:xfrm>
            <a:off x="457200" y="649224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pt-BR" sz="900" noProof="0" dirty="0">
                <a:solidFill>
                  <a:srgbClr val="8A8A8A"/>
                </a:solidFill>
              </a:rPr>
              <a:t>Case Data Architect  |  iFood</a:t>
            </a:r>
            <a:endParaRPr lang="pt-BR" sz="900" noProof="0" dirty="0"/>
          </a:p>
        </p:txBody>
      </p:sp>
      <p:sp>
        <p:nvSpPr>
          <p:cNvPr id="18" name="Text 16"/>
          <p:cNvSpPr/>
          <p:nvPr/>
        </p:nvSpPr>
        <p:spPr>
          <a:xfrm>
            <a:off x="11247120" y="649224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pt-BR" sz="900" noProof="0" dirty="0">
                <a:solidFill>
                  <a:srgbClr val="8A8A8A"/>
                </a:solidFill>
              </a:rPr>
              <a:t>7</a:t>
            </a:r>
            <a:endParaRPr lang="pt-BR" sz="900" noProof="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100" b="1" kern="0" spc="300" noProof="0" dirty="0">
                <a:solidFill>
                  <a:srgbClr val="EA1D2C"/>
                </a:solidFill>
              </a:rPr>
              <a:t>ETAPA 04 - GOVERNANCA</a:t>
            </a:r>
            <a:endParaRPr lang="pt-BR" sz="1100" noProof="0" dirty="0"/>
          </a:p>
        </p:txBody>
      </p:sp>
      <p:sp>
        <p:nvSpPr>
          <p:cNvPr id="3" name="Text 1"/>
          <p:cNvSpPr/>
          <p:nvPr/>
        </p:nvSpPr>
        <p:spPr>
          <a:xfrm>
            <a:off x="457200" y="713232"/>
            <a:ext cx="11247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2500" b="1" noProof="0" dirty="0">
                <a:solidFill>
                  <a:srgbClr val="1A1A1A"/>
                </a:solidFill>
              </a:rPr>
              <a:t>Classificação de sensibilidade (LGPD)</a:t>
            </a:r>
            <a:endParaRPr lang="pt-BR" sz="2500" noProof="0" dirty="0"/>
          </a:p>
        </p:txBody>
      </p:sp>
      <p:sp>
        <p:nvSpPr>
          <p:cNvPr id="4" name="Shape 2"/>
          <p:cNvSpPr/>
          <p:nvPr/>
        </p:nvSpPr>
        <p:spPr>
          <a:xfrm>
            <a:off x="8869680" y="384048"/>
            <a:ext cx="2834640" cy="457200"/>
          </a:xfrm>
          <a:prstGeom prst="roundRect">
            <a:avLst>
              <a:gd name="adj" fmla="val 10000"/>
            </a:avLst>
          </a:prstGeom>
          <a:solidFill>
            <a:srgbClr val="1A1A1A"/>
          </a:solidFill>
          <a:ln/>
        </p:spPr>
        <p:txBody>
          <a:bodyPr/>
          <a:lstStyle/>
          <a:p>
            <a:endParaRPr lang="pt-BR" noProof="0" dirty="0"/>
          </a:p>
        </p:txBody>
      </p:sp>
      <p:sp>
        <p:nvSpPr>
          <p:cNvPr id="5" name="Text 3"/>
          <p:cNvSpPr/>
          <p:nvPr/>
        </p:nvSpPr>
        <p:spPr>
          <a:xfrm>
            <a:off x="8915400" y="384048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pt-BR" sz="1000" b="1" noProof="0" dirty="0">
                <a:solidFill>
                  <a:srgbClr val="EA1D2C"/>
                </a:solidFill>
              </a:rPr>
              <a:t>ARQUIVO 04   </a:t>
            </a:r>
            <a:r>
              <a:rPr lang="pt-BR" sz="1000" noProof="0" dirty="0">
                <a:solidFill>
                  <a:srgbClr val="FFFFFF"/>
                </a:solidFill>
              </a:rPr>
              <a:t>04_data_classification</a:t>
            </a:r>
            <a:endParaRPr lang="pt-BR" sz="1000" noProof="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03189781"/>
              </p:ext>
            </p:extLst>
          </p:nvPr>
        </p:nvGraphicFramePr>
        <p:xfrm>
          <a:off x="457200" y="1554480"/>
          <a:ext cx="11247120" cy="1965960"/>
        </p:xfrm>
        <a:graphic>
          <a:graphicData uri="http://schemas.openxmlformats.org/drawingml/2006/table">
            <a:tbl>
              <a:tblPr/>
              <a:tblGrid>
                <a:gridCol w="26517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5544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5544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8288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36576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00" b="1" noProof="0" dirty="0">
                          <a:solidFill>
                            <a:srgbClr val="FFFFFF"/>
                          </a:solidFill>
                        </a:rPr>
                        <a:t>Campo</a:t>
                      </a:r>
                      <a:endParaRPr lang="pt-BR" sz="1100" noProof="0" dirty="0"/>
                    </a:p>
                  </a:txBody>
                  <a:tcPr>
                    <a:lnL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1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00" b="1" noProof="0" dirty="0">
                          <a:solidFill>
                            <a:srgbClr val="FFFFFF"/>
                          </a:solidFill>
                        </a:rPr>
                        <a:t>Tipo</a:t>
                      </a:r>
                      <a:endParaRPr lang="pt-BR" sz="1100" noProof="0" dirty="0"/>
                    </a:p>
                  </a:txBody>
                  <a:tcPr>
                    <a:lnL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1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00" b="1" noProof="0" dirty="0">
                          <a:solidFill>
                            <a:srgbClr val="FFFFFF"/>
                          </a:solidFill>
                        </a:rPr>
                        <a:t>Sensibilidade</a:t>
                      </a:r>
                      <a:endParaRPr lang="pt-BR" sz="1100" noProof="0" dirty="0"/>
                    </a:p>
                  </a:txBody>
                  <a:tcPr>
                    <a:lnL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1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00" b="1" noProof="0" dirty="0">
                          <a:solidFill>
                            <a:srgbClr val="FFFFFF"/>
                          </a:solidFill>
                        </a:rPr>
                        <a:t>LGPD</a:t>
                      </a:r>
                      <a:endParaRPr lang="pt-BR" sz="1100" noProof="0" dirty="0"/>
                    </a:p>
                  </a:txBody>
                  <a:tcPr>
                    <a:lnL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1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00" b="1" noProof="0" dirty="0">
                          <a:solidFill>
                            <a:srgbClr val="FFFFFF"/>
                          </a:solidFill>
                        </a:rPr>
                        <a:t>Descrição</a:t>
                      </a:r>
                      <a:endParaRPr lang="pt-BR" sz="1100" noProof="0" dirty="0"/>
                    </a:p>
                  </a:txBody>
                  <a:tcPr>
                    <a:lnL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1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000" b="1" noProof="0" dirty="0">
                          <a:solidFill>
                            <a:srgbClr val="EA1D2C"/>
                          </a:solidFill>
                        </a:rPr>
                        <a:t>total_amount</a:t>
                      </a:r>
                      <a:endParaRPr lang="pt-BR" sz="1000" noProof="0" dirty="0"/>
                    </a:p>
                  </a:txBody>
                  <a:tcPr>
                    <a:lnL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CE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000" noProof="0" dirty="0">
                          <a:solidFill>
                            <a:srgbClr val="1A1A1A"/>
                          </a:solidFill>
                        </a:rPr>
                        <a:t>FINANCIAL</a:t>
                      </a:r>
                      <a:endParaRPr lang="pt-BR" sz="1000" noProof="0" dirty="0"/>
                    </a:p>
                  </a:txBody>
                  <a:tcPr>
                    <a:lnL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CE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000" b="1" noProof="0" dirty="0">
                          <a:solidFill>
                            <a:srgbClr val="EA1D2C"/>
                          </a:solidFill>
                        </a:rPr>
                        <a:t>RESTRICTED</a:t>
                      </a:r>
                      <a:endParaRPr lang="pt-BR" sz="1000" noProof="0" dirty="0"/>
                    </a:p>
                  </a:txBody>
                  <a:tcPr>
                    <a:lnL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CE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000" noProof="0" dirty="0">
                          <a:solidFill>
                            <a:srgbClr val="1A1A1A"/>
                          </a:solidFill>
                        </a:rPr>
                        <a:t>DADO_FINANCEIRO</a:t>
                      </a:r>
                      <a:endParaRPr lang="pt-BR" sz="1000" noProof="0" dirty="0"/>
                    </a:p>
                  </a:txBody>
                  <a:tcPr>
                    <a:lnL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CE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000" noProof="0" dirty="0">
                          <a:solidFill>
                            <a:srgbClr val="1A1A1A"/>
                          </a:solidFill>
                        </a:rPr>
                        <a:t>Valor total cobrado</a:t>
                      </a:r>
                      <a:endParaRPr lang="pt-BR" sz="1000" noProof="0" dirty="0"/>
                    </a:p>
                  </a:txBody>
                  <a:tcPr>
                    <a:lnL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CE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000" b="1" noProof="0" dirty="0">
                          <a:solidFill>
                            <a:srgbClr val="B45309"/>
                          </a:solidFill>
                        </a:rPr>
                        <a:t>vendor_id</a:t>
                      </a:r>
                      <a:endParaRPr lang="pt-BR" sz="1000" noProof="0" dirty="0"/>
                    </a:p>
                  </a:txBody>
                  <a:tcPr>
                    <a:lnL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3C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000" noProof="0" dirty="0">
                          <a:solidFill>
                            <a:srgbClr val="1A1A1A"/>
                          </a:solidFill>
                        </a:rPr>
                        <a:t>IDENTIFIER</a:t>
                      </a:r>
                      <a:endParaRPr lang="pt-BR" sz="1000" noProof="0" dirty="0"/>
                    </a:p>
                  </a:txBody>
                  <a:tcPr>
                    <a:lnL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3C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000" b="1" noProof="0" dirty="0">
                          <a:solidFill>
                            <a:srgbClr val="B45309"/>
                          </a:solidFill>
                        </a:rPr>
                        <a:t>INTERNAL</a:t>
                      </a:r>
                      <a:endParaRPr lang="pt-BR" sz="1000" noProof="0" dirty="0"/>
                    </a:p>
                  </a:txBody>
                  <a:tcPr>
                    <a:lnL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3C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000" noProof="0" dirty="0">
                          <a:solidFill>
                            <a:srgbClr val="1A1A1A"/>
                          </a:solidFill>
                        </a:rPr>
                        <a:t>DADO_CADASTRAL</a:t>
                      </a:r>
                      <a:endParaRPr lang="pt-BR" sz="1000" noProof="0" dirty="0"/>
                    </a:p>
                  </a:txBody>
                  <a:tcPr>
                    <a:lnL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3C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000" noProof="0" dirty="0">
                          <a:solidFill>
                            <a:srgbClr val="1A1A1A"/>
                          </a:solidFill>
                        </a:rPr>
                        <a:t>ID do provedor TPEP</a:t>
                      </a:r>
                      <a:endParaRPr lang="pt-BR" sz="1000" noProof="0" dirty="0"/>
                    </a:p>
                  </a:txBody>
                  <a:tcPr>
                    <a:lnL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3C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000" b="1" noProof="0" dirty="0">
                          <a:solidFill>
                            <a:srgbClr val="B45309"/>
                          </a:solidFill>
                        </a:rPr>
                        <a:t>tpep_pickup_datetime</a:t>
                      </a:r>
                      <a:endParaRPr lang="pt-BR" sz="1000" noProof="0" dirty="0"/>
                    </a:p>
                  </a:txBody>
                  <a:tcPr>
                    <a:lnL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3C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000" noProof="0" dirty="0">
                          <a:solidFill>
                            <a:srgbClr val="1A1A1A"/>
                          </a:solidFill>
                        </a:rPr>
                        <a:t>OPERATIONAL</a:t>
                      </a:r>
                      <a:endParaRPr lang="pt-BR" sz="1000" noProof="0" dirty="0"/>
                    </a:p>
                  </a:txBody>
                  <a:tcPr>
                    <a:lnL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3C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000" b="1" noProof="0" dirty="0">
                          <a:solidFill>
                            <a:srgbClr val="B45309"/>
                          </a:solidFill>
                        </a:rPr>
                        <a:t>INTERNAL</a:t>
                      </a:r>
                      <a:endParaRPr lang="pt-BR" sz="1000" noProof="0" dirty="0"/>
                    </a:p>
                  </a:txBody>
                  <a:tcPr>
                    <a:lnL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3C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000" noProof="0" dirty="0">
                          <a:solidFill>
                            <a:srgbClr val="1A1A1A"/>
                          </a:solidFill>
                        </a:rPr>
                        <a:t>-</a:t>
                      </a:r>
                      <a:endParaRPr lang="pt-BR" sz="1000" noProof="0" dirty="0"/>
                    </a:p>
                  </a:txBody>
                  <a:tcPr>
                    <a:lnL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3C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000" noProof="0" dirty="0">
                          <a:solidFill>
                            <a:srgbClr val="1A1A1A"/>
                          </a:solidFill>
                        </a:rPr>
                        <a:t>Hora do embarque</a:t>
                      </a:r>
                      <a:endParaRPr lang="pt-BR" sz="1000" noProof="0" dirty="0"/>
                    </a:p>
                  </a:txBody>
                  <a:tcPr>
                    <a:lnL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3C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000" b="1" noProof="0" dirty="0">
                          <a:solidFill>
                            <a:srgbClr val="B45309"/>
                          </a:solidFill>
                        </a:rPr>
                        <a:t>tpep_dropoff_datetime</a:t>
                      </a:r>
                      <a:endParaRPr lang="pt-BR" sz="1000" noProof="0" dirty="0"/>
                    </a:p>
                  </a:txBody>
                  <a:tcPr>
                    <a:lnL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3C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000" noProof="0" dirty="0">
                          <a:solidFill>
                            <a:srgbClr val="1A1A1A"/>
                          </a:solidFill>
                        </a:rPr>
                        <a:t>OPERATIONAL</a:t>
                      </a:r>
                      <a:endParaRPr lang="pt-BR" sz="1000" noProof="0" dirty="0"/>
                    </a:p>
                  </a:txBody>
                  <a:tcPr>
                    <a:lnL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3C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000" b="1" noProof="0" dirty="0">
                          <a:solidFill>
                            <a:srgbClr val="B45309"/>
                          </a:solidFill>
                        </a:rPr>
                        <a:t>INTERNAL</a:t>
                      </a:r>
                      <a:endParaRPr lang="pt-BR" sz="1000" noProof="0" dirty="0"/>
                    </a:p>
                  </a:txBody>
                  <a:tcPr>
                    <a:lnL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3C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000" noProof="0" dirty="0">
                          <a:solidFill>
                            <a:srgbClr val="1A1A1A"/>
                          </a:solidFill>
                        </a:rPr>
                        <a:t>-</a:t>
                      </a:r>
                      <a:endParaRPr lang="pt-BR" sz="1000" noProof="0" dirty="0"/>
                    </a:p>
                  </a:txBody>
                  <a:tcPr>
                    <a:lnL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3C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000" noProof="0" dirty="0">
                          <a:solidFill>
                            <a:srgbClr val="1A1A1A"/>
                          </a:solidFill>
                        </a:rPr>
                        <a:t>Hora do desembarque</a:t>
                      </a:r>
                      <a:endParaRPr lang="pt-BR" sz="1000" noProof="0" dirty="0"/>
                    </a:p>
                  </a:txBody>
                  <a:tcPr>
                    <a:lnL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3C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000" b="1" noProof="0" dirty="0">
                          <a:solidFill>
                            <a:srgbClr val="B45309"/>
                          </a:solidFill>
                        </a:rPr>
                        <a:t>passenger_count</a:t>
                      </a:r>
                      <a:endParaRPr lang="pt-BR" sz="1000" noProof="0" dirty="0"/>
                    </a:p>
                  </a:txBody>
                  <a:tcPr>
                    <a:lnL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3C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000" noProof="0" dirty="0">
                          <a:solidFill>
                            <a:srgbClr val="1A1A1A"/>
                          </a:solidFill>
                        </a:rPr>
                        <a:t>OPERATIONAL</a:t>
                      </a:r>
                      <a:endParaRPr lang="pt-BR" sz="1000" noProof="0" dirty="0"/>
                    </a:p>
                  </a:txBody>
                  <a:tcPr>
                    <a:lnL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3C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000" b="1" noProof="0" dirty="0">
                          <a:solidFill>
                            <a:srgbClr val="B45309"/>
                          </a:solidFill>
                        </a:rPr>
                        <a:t>INTERNAL</a:t>
                      </a:r>
                      <a:endParaRPr lang="pt-BR" sz="1000" noProof="0" dirty="0"/>
                    </a:p>
                  </a:txBody>
                  <a:tcPr>
                    <a:lnL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3C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000" noProof="0" dirty="0">
                          <a:solidFill>
                            <a:srgbClr val="1A1A1A"/>
                          </a:solidFill>
                        </a:rPr>
                        <a:t>-</a:t>
                      </a:r>
                      <a:endParaRPr lang="pt-BR" sz="1000" noProof="0" dirty="0"/>
                    </a:p>
                  </a:txBody>
                  <a:tcPr>
                    <a:lnL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3C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000" noProof="0" dirty="0">
                          <a:solidFill>
                            <a:srgbClr val="1A1A1A"/>
                          </a:solidFill>
                        </a:rPr>
                        <a:t>Qtd de passageiros</a:t>
                      </a:r>
                      <a:endParaRPr lang="pt-BR" sz="1000" noProof="0" dirty="0"/>
                    </a:p>
                  </a:txBody>
                  <a:tcPr>
                    <a:lnL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3C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000" b="1" noProof="0" dirty="0">
                          <a:solidFill>
                            <a:srgbClr val="1B7A3E"/>
                          </a:solidFill>
                        </a:rPr>
                        <a:t>hora_pickup</a:t>
                      </a:r>
                      <a:endParaRPr lang="pt-BR" sz="1000" noProof="0" dirty="0"/>
                    </a:p>
                  </a:txBody>
                  <a:tcPr>
                    <a:lnL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5E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000" noProof="0" dirty="0">
                          <a:solidFill>
                            <a:srgbClr val="1A1A1A"/>
                          </a:solidFill>
                        </a:rPr>
                        <a:t>DERIVED</a:t>
                      </a:r>
                      <a:endParaRPr lang="pt-BR" sz="1000" noProof="0" dirty="0"/>
                    </a:p>
                  </a:txBody>
                  <a:tcPr>
                    <a:lnL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5E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000" b="1" noProof="0" dirty="0">
                          <a:solidFill>
                            <a:srgbClr val="1B7A3E"/>
                          </a:solidFill>
                        </a:rPr>
                        <a:t>PUBLIC</a:t>
                      </a:r>
                      <a:endParaRPr lang="pt-BR" sz="1000" noProof="0" dirty="0"/>
                    </a:p>
                  </a:txBody>
                  <a:tcPr>
                    <a:lnL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5E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000" noProof="0" dirty="0">
                          <a:solidFill>
                            <a:srgbClr val="1A1A1A"/>
                          </a:solidFill>
                        </a:rPr>
                        <a:t>-</a:t>
                      </a:r>
                      <a:endParaRPr lang="pt-BR" sz="1000" noProof="0" dirty="0"/>
                    </a:p>
                  </a:txBody>
                  <a:tcPr>
                    <a:lnL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5E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000" noProof="0" dirty="0">
                          <a:solidFill>
                            <a:srgbClr val="1A1A1A"/>
                          </a:solidFill>
                        </a:rPr>
                        <a:t>Coluna derivada</a:t>
                      </a:r>
                      <a:endParaRPr lang="pt-BR" sz="1000" noProof="0" dirty="0"/>
                    </a:p>
                  </a:txBody>
                  <a:tcPr>
                    <a:lnL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5E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000" b="1" noProof="0" dirty="0">
                          <a:solidFill>
                            <a:srgbClr val="1B7A3E"/>
                          </a:solidFill>
                        </a:rPr>
                        <a:t>ano_mês</a:t>
                      </a:r>
                      <a:endParaRPr lang="pt-BR" sz="1000" noProof="0" dirty="0"/>
                    </a:p>
                  </a:txBody>
                  <a:tcPr>
                    <a:lnL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5E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000" noProof="0" dirty="0">
                          <a:solidFill>
                            <a:srgbClr val="1A1A1A"/>
                          </a:solidFill>
                        </a:rPr>
                        <a:t>DERIVED</a:t>
                      </a:r>
                      <a:endParaRPr lang="pt-BR" sz="1000" noProof="0" dirty="0"/>
                    </a:p>
                  </a:txBody>
                  <a:tcPr>
                    <a:lnL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5E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000" b="1" noProof="0" dirty="0">
                          <a:solidFill>
                            <a:srgbClr val="1B7A3E"/>
                          </a:solidFill>
                        </a:rPr>
                        <a:t>PUBLIC</a:t>
                      </a:r>
                      <a:endParaRPr lang="pt-BR" sz="1000" noProof="0" dirty="0"/>
                    </a:p>
                  </a:txBody>
                  <a:tcPr>
                    <a:lnL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5E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000" noProof="0" dirty="0">
                          <a:solidFill>
                            <a:srgbClr val="1A1A1A"/>
                          </a:solidFill>
                        </a:rPr>
                        <a:t>-</a:t>
                      </a:r>
                      <a:endParaRPr lang="pt-BR" sz="1000" noProof="0" dirty="0"/>
                    </a:p>
                  </a:txBody>
                  <a:tcPr>
                    <a:lnL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5E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000" noProof="0" dirty="0">
                          <a:solidFill>
                            <a:srgbClr val="1A1A1A"/>
                          </a:solidFill>
                        </a:rPr>
                        <a:t>Partição mensal</a:t>
                      </a:r>
                      <a:endParaRPr lang="pt-BR" sz="1000" noProof="0" dirty="0"/>
                    </a:p>
                  </a:txBody>
                  <a:tcPr>
                    <a:lnL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5E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7" name="Shape 4"/>
          <p:cNvSpPr/>
          <p:nvPr/>
        </p:nvSpPr>
        <p:spPr>
          <a:xfrm>
            <a:off x="457200" y="5029200"/>
            <a:ext cx="11247120" cy="1188720"/>
          </a:xfrm>
          <a:prstGeom prst="roundRect">
            <a:avLst>
              <a:gd name="adj" fmla="val 4615"/>
            </a:avLst>
          </a:prstGeom>
          <a:solidFill>
            <a:srgbClr val="FDECEA"/>
          </a:solidFill>
          <a:ln/>
        </p:spPr>
        <p:txBody>
          <a:bodyPr/>
          <a:lstStyle/>
          <a:p>
            <a:endParaRPr lang="pt-BR" noProof="0" dirty="0"/>
          </a:p>
        </p:txBody>
      </p:sp>
      <p:sp>
        <p:nvSpPr>
          <p:cNvPr id="8" name="Text 5"/>
          <p:cNvSpPr/>
          <p:nvPr/>
        </p:nvSpPr>
        <p:spPr>
          <a:xfrm>
            <a:off x="685800" y="5138928"/>
            <a:ext cx="10789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200" b="1" noProof="0" dirty="0">
                <a:solidFill>
                  <a:srgbClr val="EA1D2C"/>
                </a:solidFill>
              </a:rPr>
              <a:t>Conexão com a vaga - pilar Data Privacy &amp; Security</a:t>
            </a:r>
            <a:endParaRPr lang="pt-BR" sz="1200" noProof="0" dirty="0"/>
          </a:p>
        </p:txBody>
      </p:sp>
      <p:sp>
        <p:nvSpPr>
          <p:cNvPr id="6" name="Text 6"/>
          <p:cNvSpPr/>
          <p:nvPr/>
        </p:nvSpPr>
        <p:spPr>
          <a:xfrm>
            <a:off x="685800" y="5440680"/>
            <a:ext cx="107899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pt-BR" sz="1200" noProof="0" dirty="0">
                <a:solidFill>
                  <a:srgbClr val="1A1A1A"/>
                </a:solidFill>
              </a:rPr>
              <a:t>total_amount e o único RESTRICTED (DADO_FINANCEIRO, LGPD Art. 5). Numa arquitetura real, não seria exposto na Gold sem controle de acesso via Unity Catalog e auditoria de cada consulta. Postura conservadora: num superapp, o campo equivalente seria diretamente sensível.</a:t>
            </a:r>
            <a:endParaRPr lang="pt-BR" sz="1200" noProof="0" dirty="0"/>
          </a:p>
        </p:txBody>
      </p:sp>
      <p:sp>
        <p:nvSpPr>
          <p:cNvPr id="10" name="Text 7"/>
          <p:cNvSpPr/>
          <p:nvPr/>
        </p:nvSpPr>
        <p:spPr>
          <a:xfrm>
            <a:off x="457200" y="649224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pt-BR" sz="900" noProof="0" dirty="0">
                <a:solidFill>
                  <a:srgbClr val="8A8A8A"/>
                </a:solidFill>
              </a:rPr>
              <a:t>Case Data Architect  |  iFood</a:t>
            </a:r>
            <a:endParaRPr lang="pt-BR" sz="900" noProof="0" dirty="0"/>
          </a:p>
        </p:txBody>
      </p:sp>
      <p:sp>
        <p:nvSpPr>
          <p:cNvPr id="11" name="Text 8"/>
          <p:cNvSpPr/>
          <p:nvPr/>
        </p:nvSpPr>
        <p:spPr>
          <a:xfrm>
            <a:off x="11247120" y="649224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pt-BR" sz="900" noProof="0" dirty="0">
                <a:solidFill>
                  <a:srgbClr val="8A8A8A"/>
                </a:solidFill>
              </a:rPr>
              <a:t>8</a:t>
            </a:r>
            <a:endParaRPr lang="pt-BR" sz="900" noProof="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100" b="1" kern="0" spc="300" noProof="0" dirty="0">
                <a:solidFill>
                  <a:srgbClr val="EA1D2C"/>
                </a:solidFill>
              </a:rPr>
              <a:t>ETAPA ANALYSIS - PERGUNTA 1</a:t>
            </a:r>
            <a:endParaRPr lang="pt-BR" sz="1100" noProof="0" dirty="0"/>
          </a:p>
        </p:txBody>
      </p:sp>
      <p:sp>
        <p:nvSpPr>
          <p:cNvPr id="3" name="Text 1"/>
          <p:cNvSpPr/>
          <p:nvPr/>
        </p:nvSpPr>
        <p:spPr>
          <a:xfrm>
            <a:off x="457200" y="713232"/>
            <a:ext cx="11247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2500" b="1" noProof="0" dirty="0">
                <a:solidFill>
                  <a:srgbClr val="1A1A1A"/>
                </a:solidFill>
              </a:rPr>
              <a:t>Faturamento por mês</a:t>
            </a:r>
            <a:endParaRPr lang="pt-BR" sz="2500" noProof="0" dirty="0"/>
          </a:p>
        </p:txBody>
      </p:sp>
      <p:sp>
        <p:nvSpPr>
          <p:cNvPr id="4" name="Shape 2"/>
          <p:cNvSpPr/>
          <p:nvPr/>
        </p:nvSpPr>
        <p:spPr>
          <a:xfrm>
            <a:off x="8869680" y="384048"/>
            <a:ext cx="2834640" cy="457200"/>
          </a:xfrm>
          <a:prstGeom prst="roundRect">
            <a:avLst>
              <a:gd name="adj" fmla="val 10000"/>
            </a:avLst>
          </a:prstGeom>
          <a:solidFill>
            <a:srgbClr val="1A1A1A"/>
          </a:solidFill>
          <a:ln/>
        </p:spPr>
        <p:txBody>
          <a:bodyPr/>
          <a:lstStyle/>
          <a:p>
            <a:endParaRPr lang="pt-BR" noProof="0" dirty="0"/>
          </a:p>
        </p:txBody>
      </p:sp>
      <p:sp>
        <p:nvSpPr>
          <p:cNvPr id="5" name="Text 3"/>
          <p:cNvSpPr/>
          <p:nvPr/>
        </p:nvSpPr>
        <p:spPr>
          <a:xfrm>
            <a:off x="8915400" y="384048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pt-BR" sz="1000" b="1" noProof="0" dirty="0">
                <a:solidFill>
                  <a:srgbClr val="EA1D2C"/>
                </a:solidFill>
              </a:rPr>
              <a:t>ARQUIVO analysis   </a:t>
            </a:r>
            <a:r>
              <a:rPr lang="pt-BR" sz="1000" noProof="0" dirty="0">
                <a:solidFill>
                  <a:srgbClr val="FFFFFF"/>
                </a:solidFill>
              </a:rPr>
              <a:t>analysis</a:t>
            </a:r>
            <a:endParaRPr lang="pt-BR" sz="1000" noProof="0" dirty="0"/>
          </a:p>
        </p:txBody>
      </p:sp>
      <p:sp>
        <p:nvSpPr>
          <p:cNvPr id="6" name="Text 4"/>
          <p:cNvSpPr/>
          <p:nvPr/>
        </p:nvSpPr>
        <p:spPr>
          <a:xfrm>
            <a:off x="457200" y="146304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200" noProof="0" dirty="0">
                <a:solidFill>
                  <a:srgbClr val="5A5A5A"/>
                </a:solidFill>
              </a:rPr>
              <a:t>Media do valor por corrida (total_amount), por mês - todos os yellow taxis</a:t>
            </a:r>
            <a:endParaRPr lang="pt-BR" sz="1200" noProof="0" dirty="0"/>
          </a:p>
        </p:txBody>
      </p:sp>
      <p:graphicFrame>
        <p:nvGraphicFramePr>
          <p:cNvPr id="7" name="Chart 0"/>
          <p:cNvGraphicFramePr/>
          <p:nvPr/>
        </p:nvGraphicFramePr>
        <p:xfrm>
          <a:off x="548640" y="1965960"/>
          <a:ext cx="6858000" cy="356616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8" name="Shape 5"/>
          <p:cNvSpPr/>
          <p:nvPr/>
        </p:nvSpPr>
        <p:spPr>
          <a:xfrm>
            <a:off x="7772400" y="1965960"/>
            <a:ext cx="3840480" cy="1691640"/>
          </a:xfrm>
          <a:prstGeom prst="roundRect">
            <a:avLst>
              <a:gd name="adj" fmla="val 4324"/>
            </a:avLst>
          </a:prstGeom>
          <a:solidFill>
            <a:srgbClr val="FDECEA"/>
          </a:solidFill>
          <a:ln/>
        </p:spPr>
        <p:txBody>
          <a:bodyPr/>
          <a:lstStyle/>
          <a:p>
            <a:endParaRPr lang="pt-BR" noProof="0" dirty="0"/>
          </a:p>
        </p:txBody>
      </p:sp>
      <p:sp>
        <p:nvSpPr>
          <p:cNvPr id="9" name="Text 6"/>
          <p:cNvSpPr/>
          <p:nvPr/>
        </p:nvSpPr>
        <p:spPr>
          <a:xfrm>
            <a:off x="7772400" y="2148840"/>
            <a:ext cx="3840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pt-BR" sz="4000" b="1" noProof="0" dirty="0">
                <a:solidFill>
                  <a:srgbClr val="EA1D2C"/>
                </a:solidFill>
              </a:rPr>
              <a:t>+7,2%</a:t>
            </a:r>
            <a:endParaRPr lang="pt-BR" sz="4000" noProof="0" dirty="0"/>
          </a:p>
        </p:txBody>
      </p:sp>
      <p:sp>
        <p:nvSpPr>
          <p:cNvPr id="10" name="Text 7"/>
          <p:cNvSpPr/>
          <p:nvPr/>
        </p:nvSpPr>
        <p:spPr>
          <a:xfrm>
            <a:off x="7772400" y="2926080"/>
            <a:ext cx="3840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pt-BR" sz="1200" noProof="0" dirty="0">
                <a:solidFill>
                  <a:srgbClr val="1A1A1A"/>
                </a:solidFill>
              </a:rPr>
              <a:t>alta do ticket médio de jan a mai</a:t>
            </a:r>
            <a:endParaRPr lang="pt-BR" sz="1200" noProof="0" dirty="0"/>
          </a:p>
        </p:txBody>
      </p:sp>
      <p:sp>
        <p:nvSpPr>
          <p:cNvPr id="11" name="Shape 8"/>
          <p:cNvSpPr/>
          <p:nvPr/>
        </p:nvSpPr>
        <p:spPr>
          <a:xfrm>
            <a:off x="7772400" y="3840480"/>
            <a:ext cx="3840480" cy="1691640"/>
          </a:xfrm>
          <a:prstGeom prst="roundRect">
            <a:avLst>
              <a:gd name="adj" fmla="val 4324"/>
            </a:avLst>
          </a:prstGeom>
          <a:solidFill>
            <a:srgbClr val="1A1A1A"/>
          </a:solidFill>
          <a:ln/>
        </p:spPr>
        <p:txBody>
          <a:bodyPr/>
          <a:lstStyle/>
          <a:p>
            <a:endParaRPr lang="pt-BR" noProof="0" dirty="0"/>
          </a:p>
        </p:txBody>
      </p:sp>
      <p:sp>
        <p:nvSpPr>
          <p:cNvPr id="12" name="Text 9"/>
          <p:cNvSpPr/>
          <p:nvPr/>
        </p:nvSpPr>
        <p:spPr>
          <a:xfrm>
            <a:off x="7772400" y="4069080"/>
            <a:ext cx="3840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pt-BR" sz="3000" b="1" noProof="0" dirty="0">
                <a:solidFill>
                  <a:srgbClr val="FFFFFF"/>
                </a:solidFill>
              </a:rPr>
              <a:t>US$ 86,8 mi</a:t>
            </a:r>
            <a:endParaRPr lang="pt-BR" sz="3000" noProof="0" dirty="0"/>
          </a:p>
        </p:txBody>
      </p:sp>
      <p:sp>
        <p:nvSpPr>
          <p:cNvPr id="13" name="Text 10"/>
          <p:cNvSpPr/>
          <p:nvPr/>
        </p:nvSpPr>
        <p:spPr>
          <a:xfrm>
            <a:off x="7772400" y="4709160"/>
            <a:ext cx="3840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10000"/>
              </a:lnSpc>
              <a:buNone/>
            </a:pPr>
            <a:r>
              <a:rPr lang="pt-BR" sz="1200" noProof="0" dirty="0">
                <a:solidFill>
                  <a:srgbClr val="CFCFCF"/>
                </a:solidFill>
              </a:rPr>
              <a:t>receita media mensal da frota</a:t>
            </a:r>
            <a:endParaRPr lang="pt-BR" sz="1200" noProof="0" dirty="0"/>
          </a:p>
          <a:p>
            <a:pPr marL="0" indent="0" algn="ctr">
              <a:lnSpc>
                <a:spcPct val="110000"/>
              </a:lnSpc>
              <a:buNone/>
            </a:pPr>
            <a:r>
              <a:rPr lang="pt-BR" sz="1200" noProof="0" dirty="0">
                <a:solidFill>
                  <a:srgbClr val="CFCFCF"/>
                </a:solidFill>
              </a:rPr>
              <a:t>(interpretação alternativa)</a:t>
            </a:r>
            <a:endParaRPr lang="pt-BR" sz="1200" noProof="0" dirty="0"/>
          </a:p>
        </p:txBody>
      </p:sp>
      <p:sp>
        <p:nvSpPr>
          <p:cNvPr id="14" name="Text 11"/>
          <p:cNvSpPr/>
          <p:nvPr/>
        </p:nvSpPr>
        <p:spPr>
          <a:xfrm>
            <a:off x="457200" y="649224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pt-BR" sz="900" noProof="0" dirty="0">
                <a:solidFill>
                  <a:srgbClr val="8A8A8A"/>
                </a:solidFill>
              </a:rPr>
              <a:t>Case Data Architect  |  iFood</a:t>
            </a:r>
            <a:endParaRPr lang="pt-BR" sz="900" noProof="0" dirty="0"/>
          </a:p>
        </p:txBody>
      </p:sp>
      <p:sp>
        <p:nvSpPr>
          <p:cNvPr id="15" name="Text 12"/>
          <p:cNvSpPr/>
          <p:nvPr/>
        </p:nvSpPr>
        <p:spPr>
          <a:xfrm>
            <a:off x="11247120" y="649224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pt-BR" sz="900" noProof="0" dirty="0">
                <a:solidFill>
                  <a:srgbClr val="8A8A8A"/>
                </a:solidFill>
              </a:rPr>
              <a:t>9</a:t>
            </a:r>
            <a:endParaRPr lang="pt-BR" sz="900" noProof="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100" b="1" kern="0" spc="300" noProof="0" dirty="0">
                <a:solidFill>
                  <a:srgbClr val="EA1D2C"/>
                </a:solidFill>
              </a:rPr>
              <a:t>ETAPA ANALYSIS - PERGUNTA 2</a:t>
            </a:r>
            <a:endParaRPr lang="pt-BR" sz="1100" noProof="0" dirty="0"/>
          </a:p>
        </p:txBody>
      </p:sp>
      <p:sp>
        <p:nvSpPr>
          <p:cNvPr id="3" name="Text 1"/>
          <p:cNvSpPr/>
          <p:nvPr/>
        </p:nvSpPr>
        <p:spPr>
          <a:xfrm>
            <a:off x="457200" y="713232"/>
            <a:ext cx="11247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2500" b="1" noProof="0" dirty="0">
                <a:solidFill>
                  <a:srgbClr val="1A1A1A"/>
                </a:solidFill>
              </a:rPr>
              <a:t>Passageiros por hora (maio)</a:t>
            </a:r>
            <a:endParaRPr lang="pt-BR" sz="2500" noProof="0" dirty="0"/>
          </a:p>
        </p:txBody>
      </p:sp>
      <p:sp>
        <p:nvSpPr>
          <p:cNvPr id="4" name="Shape 2"/>
          <p:cNvSpPr/>
          <p:nvPr/>
        </p:nvSpPr>
        <p:spPr>
          <a:xfrm>
            <a:off x="8869680" y="384048"/>
            <a:ext cx="2834640" cy="457200"/>
          </a:xfrm>
          <a:prstGeom prst="roundRect">
            <a:avLst>
              <a:gd name="adj" fmla="val 10000"/>
            </a:avLst>
          </a:prstGeom>
          <a:solidFill>
            <a:srgbClr val="1A1A1A"/>
          </a:solidFill>
          <a:ln/>
        </p:spPr>
        <p:txBody>
          <a:bodyPr/>
          <a:lstStyle/>
          <a:p>
            <a:endParaRPr lang="pt-BR" noProof="0" dirty="0"/>
          </a:p>
        </p:txBody>
      </p:sp>
      <p:sp>
        <p:nvSpPr>
          <p:cNvPr id="5" name="Text 3"/>
          <p:cNvSpPr/>
          <p:nvPr/>
        </p:nvSpPr>
        <p:spPr>
          <a:xfrm>
            <a:off x="8915400" y="384048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pt-BR" sz="1000" b="1" noProof="0" dirty="0">
                <a:solidFill>
                  <a:srgbClr val="EA1D2C"/>
                </a:solidFill>
              </a:rPr>
              <a:t>ARQUIVO analysis   </a:t>
            </a:r>
            <a:r>
              <a:rPr lang="pt-BR" sz="1000" noProof="0" dirty="0">
                <a:solidFill>
                  <a:srgbClr val="FFFFFF"/>
                </a:solidFill>
              </a:rPr>
              <a:t>analysis</a:t>
            </a:r>
            <a:endParaRPr lang="pt-BR" sz="1000" noProof="0" dirty="0"/>
          </a:p>
        </p:txBody>
      </p:sp>
      <p:sp>
        <p:nvSpPr>
          <p:cNvPr id="6" name="Text 4"/>
          <p:cNvSpPr/>
          <p:nvPr/>
        </p:nvSpPr>
        <p:spPr>
          <a:xfrm>
            <a:off x="457200" y="146304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200" noProof="0" dirty="0">
                <a:solidFill>
                  <a:srgbClr val="5A5A5A"/>
                </a:solidFill>
              </a:rPr>
              <a:t>O pico de volume não coincide com o pico de ocupação - insight central de demanda</a:t>
            </a:r>
            <a:endParaRPr lang="pt-BR" sz="1200" noProof="0" dirty="0"/>
          </a:p>
        </p:txBody>
      </p:sp>
      <p:graphicFrame>
        <p:nvGraphicFramePr>
          <p:cNvPr id="7" name="Chart 0"/>
          <p:cNvGraphicFramePr/>
          <p:nvPr/>
        </p:nvGraphicFramePr>
        <p:xfrm>
          <a:off x="548640" y="1920240"/>
          <a:ext cx="11064240" cy="301752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8" name="Text 5"/>
          <p:cNvSpPr/>
          <p:nvPr/>
        </p:nvSpPr>
        <p:spPr>
          <a:xfrm>
            <a:off x="548640" y="507492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100" b="1" noProof="0" dirty="0">
                <a:solidFill>
                  <a:srgbClr val="EA1D2C"/>
                </a:solidFill>
              </a:rPr>
              <a:t>Maior ocupação 02h (1,46): </a:t>
            </a:r>
            <a:r>
              <a:rPr lang="pt-BR" sz="1100" noProof="0" dirty="0">
                <a:solidFill>
                  <a:srgbClr val="1A1A1A"/>
                </a:solidFill>
              </a:rPr>
              <a:t>grupos da vida noturna.    </a:t>
            </a:r>
            <a:r>
              <a:rPr lang="pt-BR" sz="1100" b="1" noProof="0" dirty="0">
                <a:solidFill>
                  <a:srgbClr val="EA1D2C"/>
                </a:solidFill>
              </a:rPr>
              <a:t>Menor 06h (1,26): </a:t>
            </a:r>
            <a:r>
              <a:rPr lang="pt-BR" sz="1100" noProof="0" dirty="0">
                <a:solidFill>
                  <a:srgbClr val="1A1A1A"/>
                </a:solidFill>
              </a:rPr>
              <a:t>commuters individuais.    </a:t>
            </a:r>
            <a:r>
              <a:rPr lang="pt-BR" sz="1100" b="1" noProof="0" dirty="0">
                <a:solidFill>
                  <a:srgbClr val="EA1D2C"/>
                </a:solidFill>
              </a:rPr>
              <a:t>Pico volume 18h (237.971): </a:t>
            </a:r>
            <a:r>
              <a:rPr lang="pt-BR" sz="1100" noProof="0" dirty="0">
                <a:solidFill>
                  <a:srgbClr val="1A1A1A"/>
                </a:solidFill>
              </a:rPr>
              <a:t>saída do trabalho, ocupação baixa (1,38).</a:t>
            </a:r>
            <a:endParaRPr lang="pt-BR" sz="1100" noProof="0" dirty="0"/>
          </a:p>
        </p:txBody>
      </p:sp>
      <p:sp>
        <p:nvSpPr>
          <p:cNvPr id="9" name="Text 6"/>
          <p:cNvSpPr/>
          <p:nvPr/>
        </p:nvSpPr>
        <p:spPr>
          <a:xfrm>
            <a:off x="548640" y="553212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100" i="1" noProof="0" dirty="0">
                <a:solidFill>
                  <a:srgbClr val="5A5A5A"/>
                </a:solidFill>
              </a:rPr>
              <a:t>Banda estreita (1,26 a 1,46) o dia todo: yellow taxi de NY e majoritariamente modal individual.</a:t>
            </a:r>
            <a:endParaRPr lang="pt-BR" sz="1100" noProof="0" dirty="0"/>
          </a:p>
        </p:txBody>
      </p:sp>
      <p:sp>
        <p:nvSpPr>
          <p:cNvPr id="10" name="Text 7"/>
          <p:cNvSpPr/>
          <p:nvPr/>
        </p:nvSpPr>
        <p:spPr>
          <a:xfrm>
            <a:off x="457200" y="649224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pt-BR" sz="900" noProof="0" dirty="0">
                <a:solidFill>
                  <a:srgbClr val="8A8A8A"/>
                </a:solidFill>
              </a:rPr>
              <a:t>Case Data Architect  |  iFood</a:t>
            </a:r>
            <a:endParaRPr lang="pt-BR" sz="900" noProof="0" dirty="0"/>
          </a:p>
        </p:txBody>
      </p:sp>
      <p:sp>
        <p:nvSpPr>
          <p:cNvPr id="11" name="Text 8"/>
          <p:cNvSpPr/>
          <p:nvPr/>
        </p:nvSpPr>
        <p:spPr>
          <a:xfrm>
            <a:off x="11247120" y="649224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pt-BR" sz="900" noProof="0" dirty="0">
                <a:solidFill>
                  <a:srgbClr val="8A8A8A"/>
                </a:solidFill>
              </a:rPr>
              <a:t>10</a:t>
            </a:r>
            <a:endParaRPr lang="pt-BR" sz="900" noProof="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100" b="1" kern="0" spc="300" noProof="0" dirty="0">
                <a:solidFill>
                  <a:srgbClr val="EA1D2C"/>
                </a:solidFill>
              </a:rPr>
              <a:t>ETAPA VISUAL - INSIGHT EXTRA</a:t>
            </a:r>
            <a:endParaRPr lang="pt-BR" sz="1100" noProof="0" dirty="0"/>
          </a:p>
        </p:txBody>
      </p:sp>
      <p:sp>
        <p:nvSpPr>
          <p:cNvPr id="3" name="Text 1"/>
          <p:cNvSpPr/>
          <p:nvPr/>
        </p:nvSpPr>
        <p:spPr>
          <a:xfrm>
            <a:off x="457200" y="713232"/>
            <a:ext cx="11247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2500" b="1" noProof="0" dirty="0">
                <a:solidFill>
                  <a:srgbClr val="1A1A1A"/>
                </a:solidFill>
              </a:rPr>
              <a:t>Volume de corridas por hora</a:t>
            </a:r>
            <a:endParaRPr lang="pt-BR" sz="2500" noProof="0" dirty="0"/>
          </a:p>
        </p:txBody>
      </p:sp>
      <p:sp>
        <p:nvSpPr>
          <p:cNvPr id="4" name="Shape 2"/>
          <p:cNvSpPr/>
          <p:nvPr/>
        </p:nvSpPr>
        <p:spPr>
          <a:xfrm>
            <a:off x="8869680" y="384048"/>
            <a:ext cx="2834640" cy="457200"/>
          </a:xfrm>
          <a:prstGeom prst="roundRect">
            <a:avLst>
              <a:gd name="adj" fmla="val 10000"/>
            </a:avLst>
          </a:prstGeom>
          <a:solidFill>
            <a:srgbClr val="1A1A1A"/>
          </a:solidFill>
          <a:ln/>
        </p:spPr>
        <p:txBody>
          <a:bodyPr/>
          <a:lstStyle/>
          <a:p>
            <a:endParaRPr lang="pt-BR" noProof="0" dirty="0"/>
          </a:p>
        </p:txBody>
      </p:sp>
      <p:sp>
        <p:nvSpPr>
          <p:cNvPr id="5" name="Text 3"/>
          <p:cNvSpPr/>
          <p:nvPr/>
        </p:nvSpPr>
        <p:spPr>
          <a:xfrm>
            <a:off x="8915400" y="384048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pt-BR" sz="1000" b="1" noProof="0" dirty="0">
                <a:solidFill>
                  <a:srgbClr val="EA1D2C"/>
                </a:solidFill>
              </a:rPr>
              <a:t>ARQUIVO visual   </a:t>
            </a:r>
            <a:r>
              <a:rPr lang="pt-BR" sz="1000" noProof="0" dirty="0">
                <a:solidFill>
                  <a:srgbClr val="FFFFFF"/>
                </a:solidFill>
              </a:rPr>
              <a:t>visual_analysis</a:t>
            </a:r>
            <a:endParaRPr lang="pt-BR" sz="1000" noProof="0" dirty="0"/>
          </a:p>
        </p:txBody>
      </p:sp>
      <p:sp>
        <p:nvSpPr>
          <p:cNvPr id="6" name="Text 4"/>
          <p:cNvSpPr/>
          <p:nvPr/>
        </p:nvSpPr>
        <p:spPr>
          <a:xfrm>
            <a:off x="457200" y="146304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200" noProof="0" dirty="0">
                <a:solidFill>
                  <a:srgbClr val="5A5A5A"/>
                </a:solidFill>
              </a:rPr>
              <a:t>Fui além do que o case pediu: a dinâmica de demanda ao longo do dia</a:t>
            </a:r>
            <a:endParaRPr lang="pt-BR" sz="1200" noProof="0" dirty="0"/>
          </a:p>
        </p:txBody>
      </p:sp>
      <p:graphicFrame>
        <p:nvGraphicFramePr>
          <p:cNvPr id="7" name="Chart 0"/>
          <p:cNvGraphicFramePr/>
          <p:nvPr/>
        </p:nvGraphicFramePr>
        <p:xfrm>
          <a:off x="548640" y="1920240"/>
          <a:ext cx="11064240" cy="329184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8" name="Text 5"/>
          <p:cNvSpPr/>
          <p:nvPr/>
        </p:nvSpPr>
        <p:spPr>
          <a:xfrm>
            <a:off x="548640" y="5394960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pt-BR" sz="1200" b="1" noProof="0" dirty="0">
                <a:solidFill>
                  <a:srgbClr val="EA1D2C"/>
                </a:solidFill>
              </a:rPr>
              <a:t>Pico as 18h: </a:t>
            </a:r>
            <a:r>
              <a:rPr lang="pt-BR" sz="1200" noProof="0" dirty="0">
                <a:solidFill>
                  <a:srgbClr val="1A1A1A"/>
                </a:solidFill>
              </a:rPr>
              <a:t>237.971 corridas (saída do trabalho). Mas a ocupação (1,38) e menor que a da madrugada (1,46): viagens individuais.</a:t>
            </a:r>
            <a:endParaRPr lang="pt-BR" sz="1200" noProof="0" dirty="0"/>
          </a:p>
        </p:txBody>
      </p:sp>
      <p:sp>
        <p:nvSpPr>
          <p:cNvPr id="9" name="Text 6"/>
          <p:cNvSpPr/>
          <p:nvPr/>
        </p:nvSpPr>
        <p:spPr>
          <a:xfrm>
            <a:off x="457200" y="649224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pt-BR" sz="900" noProof="0" dirty="0">
                <a:solidFill>
                  <a:srgbClr val="8A8A8A"/>
                </a:solidFill>
              </a:rPr>
              <a:t>Case Data Architect  |  iFood</a:t>
            </a:r>
            <a:endParaRPr lang="pt-BR" sz="900" noProof="0" dirty="0"/>
          </a:p>
        </p:txBody>
      </p:sp>
      <p:sp>
        <p:nvSpPr>
          <p:cNvPr id="10" name="Text 7"/>
          <p:cNvSpPr/>
          <p:nvPr/>
        </p:nvSpPr>
        <p:spPr>
          <a:xfrm>
            <a:off x="11247120" y="649224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pt-BR" sz="900" noProof="0" dirty="0">
                <a:solidFill>
                  <a:srgbClr val="8A8A8A"/>
                </a:solidFill>
              </a:rPr>
              <a:t>11</a:t>
            </a:r>
            <a:endParaRPr lang="pt-BR" sz="900" noProof="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100" b="1" kern="0" spc="300" noProof="0" dirty="0">
                <a:solidFill>
                  <a:srgbClr val="EA1D2C"/>
                </a:solidFill>
              </a:rPr>
              <a:t>SINTESE</a:t>
            </a:r>
            <a:endParaRPr lang="pt-BR" sz="1100" noProof="0" dirty="0"/>
          </a:p>
        </p:txBody>
      </p:sp>
      <p:sp>
        <p:nvSpPr>
          <p:cNvPr id="3" name="Text 1"/>
          <p:cNvSpPr/>
          <p:nvPr/>
        </p:nvSpPr>
        <p:spPr>
          <a:xfrm>
            <a:off x="457200" y="713232"/>
            <a:ext cx="11247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2500" b="1" noProof="0" dirty="0">
                <a:solidFill>
                  <a:srgbClr val="1A1A1A"/>
                </a:solidFill>
              </a:rPr>
              <a:t>Decisões técnicas e justificativas</a:t>
            </a:r>
            <a:endParaRPr lang="pt-BR" sz="2500" noProof="0" dirty="0"/>
          </a:p>
        </p:txBody>
      </p:sp>
      <p:sp>
        <p:nvSpPr>
          <p:cNvPr id="4" name="Shape 2"/>
          <p:cNvSpPr/>
          <p:nvPr/>
        </p:nvSpPr>
        <p:spPr>
          <a:xfrm>
            <a:off x="548640" y="1691640"/>
            <a:ext cx="5394960" cy="1143000"/>
          </a:xfrm>
          <a:prstGeom prst="roundRect">
            <a:avLst>
              <a:gd name="adj" fmla="val 4800"/>
            </a:avLst>
          </a:prstGeom>
          <a:solidFill>
            <a:srgbClr val="F4F4F4"/>
          </a:solidFill>
          <a:ln/>
        </p:spPr>
        <p:txBody>
          <a:bodyPr/>
          <a:lstStyle/>
          <a:p>
            <a:endParaRPr lang="pt-BR" noProof="0" dirty="0"/>
          </a:p>
        </p:txBody>
      </p:sp>
      <p:sp>
        <p:nvSpPr>
          <p:cNvPr id="5" name="Text 3"/>
          <p:cNvSpPr/>
          <p:nvPr/>
        </p:nvSpPr>
        <p:spPr>
          <a:xfrm>
            <a:off x="777240" y="1828800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400" b="1" noProof="0" dirty="0">
                <a:solidFill>
                  <a:srgbClr val="EA1D2C"/>
                </a:solidFill>
              </a:rPr>
              <a:t>Cast explicito por arquivo</a:t>
            </a:r>
            <a:endParaRPr lang="pt-BR" sz="1400" noProof="0" dirty="0"/>
          </a:p>
        </p:txBody>
      </p:sp>
      <p:sp>
        <p:nvSpPr>
          <p:cNvPr id="6" name="Text 4"/>
          <p:cNvSpPr/>
          <p:nvPr/>
        </p:nvSpPr>
        <p:spPr>
          <a:xfrm>
            <a:off x="777240" y="2194560"/>
            <a:ext cx="4983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pt-BR" sz="1200" noProof="0" dirty="0">
                <a:solidFill>
                  <a:srgbClr val="1A1A1A"/>
                </a:solidFill>
              </a:rPr>
              <a:t>Resolve conflito INT/DOUBLE sem config de cluster</a:t>
            </a:r>
            <a:endParaRPr lang="pt-BR" sz="1200" noProof="0" dirty="0"/>
          </a:p>
        </p:txBody>
      </p:sp>
      <p:sp>
        <p:nvSpPr>
          <p:cNvPr id="7" name="Shape 5"/>
          <p:cNvSpPr/>
          <p:nvPr/>
        </p:nvSpPr>
        <p:spPr>
          <a:xfrm>
            <a:off x="6172200" y="1691640"/>
            <a:ext cx="5394960" cy="1143000"/>
          </a:xfrm>
          <a:prstGeom prst="roundRect">
            <a:avLst>
              <a:gd name="adj" fmla="val 4800"/>
            </a:avLst>
          </a:prstGeom>
          <a:solidFill>
            <a:srgbClr val="F4F4F4"/>
          </a:solidFill>
          <a:ln/>
        </p:spPr>
        <p:txBody>
          <a:bodyPr/>
          <a:lstStyle/>
          <a:p>
            <a:endParaRPr lang="pt-BR" noProof="0" dirty="0"/>
          </a:p>
        </p:txBody>
      </p:sp>
      <p:sp>
        <p:nvSpPr>
          <p:cNvPr id="8" name="Text 6"/>
          <p:cNvSpPr/>
          <p:nvPr/>
        </p:nvSpPr>
        <p:spPr>
          <a:xfrm>
            <a:off x="6400800" y="1828800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400" b="1" noProof="0" dirty="0">
                <a:solidFill>
                  <a:srgbClr val="EA1D2C"/>
                </a:solidFill>
              </a:rPr>
              <a:t>Delta Lake</a:t>
            </a:r>
            <a:endParaRPr lang="pt-BR" sz="1400" noProof="0" dirty="0"/>
          </a:p>
        </p:txBody>
      </p:sp>
      <p:sp>
        <p:nvSpPr>
          <p:cNvPr id="9" name="Text 7"/>
          <p:cNvSpPr/>
          <p:nvPr/>
        </p:nvSpPr>
        <p:spPr>
          <a:xfrm>
            <a:off x="6400800" y="2194560"/>
            <a:ext cx="4983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pt-BR" sz="1200" noProof="0" dirty="0">
                <a:solidFill>
                  <a:srgbClr val="1A1A1A"/>
                </a:solidFill>
              </a:rPr>
              <a:t>ACID, time travel e schema enforcement nativos</a:t>
            </a:r>
            <a:endParaRPr lang="pt-BR" sz="1200" noProof="0" dirty="0"/>
          </a:p>
        </p:txBody>
      </p:sp>
      <p:sp>
        <p:nvSpPr>
          <p:cNvPr id="10" name="Shape 8"/>
          <p:cNvSpPr/>
          <p:nvPr/>
        </p:nvSpPr>
        <p:spPr>
          <a:xfrm>
            <a:off x="548640" y="3017520"/>
            <a:ext cx="5394960" cy="1143000"/>
          </a:xfrm>
          <a:prstGeom prst="roundRect">
            <a:avLst>
              <a:gd name="adj" fmla="val 4800"/>
            </a:avLst>
          </a:prstGeom>
          <a:solidFill>
            <a:srgbClr val="F4F4F4"/>
          </a:solidFill>
          <a:ln/>
        </p:spPr>
        <p:txBody>
          <a:bodyPr/>
          <a:lstStyle/>
          <a:p>
            <a:endParaRPr lang="pt-BR" noProof="0" dirty="0"/>
          </a:p>
        </p:txBody>
      </p:sp>
      <p:sp>
        <p:nvSpPr>
          <p:cNvPr id="11" name="Text 9"/>
          <p:cNvSpPr/>
          <p:nvPr/>
        </p:nvSpPr>
        <p:spPr>
          <a:xfrm>
            <a:off x="777240" y="3154680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400" b="1" noProof="0" dirty="0">
                <a:solidFill>
                  <a:srgbClr val="EA1D2C"/>
                </a:solidFill>
              </a:rPr>
              <a:t>Particionar por ano_mês</a:t>
            </a:r>
            <a:endParaRPr lang="pt-BR" sz="1400" noProof="0" dirty="0"/>
          </a:p>
        </p:txBody>
      </p:sp>
      <p:sp>
        <p:nvSpPr>
          <p:cNvPr id="12" name="Text 10"/>
          <p:cNvSpPr/>
          <p:nvPr/>
        </p:nvSpPr>
        <p:spPr>
          <a:xfrm>
            <a:off x="777240" y="3520440"/>
            <a:ext cx="4983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pt-BR" sz="1200" noProof="0" dirty="0">
                <a:solidFill>
                  <a:srgbClr val="1A1A1A"/>
                </a:solidFill>
              </a:rPr>
              <a:t>Acelera queries e prepara ingestão incremental</a:t>
            </a:r>
            <a:endParaRPr lang="pt-BR" sz="1200" noProof="0" dirty="0"/>
          </a:p>
        </p:txBody>
      </p:sp>
      <p:sp>
        <p:nvSpPr>
          <p:cNvPr id="13" name="Shape 11"/>
          <p:cNvSpPr/>
          <p:nvPr/>
        </p:nvSpPr>
        <p:spPr>
          <a:xfrm>
            <a:off x="6172200" y="3017520"/>
            <a:ext cx="5394960" cy="1143000"/>
          </a:xfrm>
          <a:prstGeom prst="roundRect">
            <a:avLst>
              <a:gd name="adj" fmla="val 4800"/>
            </a:avLst>
          </a:prstGeom>
          <a:solidFill>
            <a:srgbClr val="F4F4F4"/>
          </a:solidFill>
          <a:ln/>
        </p:spPr>
        <p:txBody>
          <a:bodyPr/>
          <a:lstStyle/>
          <a:p>
            <a:endParaRPr lang="pt-BR" noProof="0" dirty="0"/>
          </a:p>
        </p:txBody>
      </p:sp>
      <p:sp>
        <p:nvSpPr>
          <p:cNvPr id="14" name="Text 12"/>
          <p:cNvSpPr/>
          <p:nvPr/>
        </p:nvSpPr>
        <p:spPr>
          <a:xfrm>
            <a:off x="6400800" y="3154680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400" b="1" noProof="0" dirty="0">
                <a:solidFill>
                  <a:srgbClr val="EA1D2C"/>
                </a:solidFill>
              </a:rPr>
              <a:t>Profiling antes da limpeza</a:t>
            </a:r>
            <a:endParaRPr lang="pt-BR" sz="1400" noProof="0" dirty="0"/>
          </a:p>
        </p:txBody>
      </p:sp>
      <p:sp>
        <p:nvSpPr>
          <p:cNvPr id="15" name="Text 13"/>
          <p:cNvSpPr/>
          <p:nvPr/>
        </p:nvSpPr>
        <p:spPr>
          <a:xfrm>
            <a:off x="6400800" y="3520440"/>
            <a:ext cx="4983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pt-BR" sz="1200" noProof="0" dirty="0">
                <a:solidFill>
                  <a:srgbClr val="1A1A1A"/>
                </a:solidFill>
              </a:rPr>
              <a:t>Cada regra tem evidencia quantitativa, nada arbitrário</a:t>
            </a:r>
            <a:endParaRPr lang="pt-BR" sz="1200" noProof="0" dirty="0"/>
          </a:p>
        </p:txBody>
      </p:sp>
      <p:sp>
        <p:nvSpPr>
          <p:cNvPr id="16" name="Shape 14"/>
          <p:cNvSpPr/>
          <p:nvPr/>
        </p:nvSpPr>
        <p:spPr>
          <a:xfrm>
            <a:off x="548640" y="4343400"/>
            <a:ext cx="5394960" cy="1143000"/>
          </a:xfrm>
          <a:prstGeom prst="roundRect">
            <a:avLst>
              <a:gd name="adj" fmla="val 4800"/>
            </a:avLst>
          </a:prstGeom>
          <a:solidFill>
            <a:srgbClr val="F4F4F4"/>
          </a:solidFill>
          <a:ln/>
        </p:spPr>
        <p:txBody>
          <a:bodyPr/>
          <a:lstStyle/>
          <a:p>
            <a:endParaRPr lang="pt-BR" noProof="0" dirty="0"/>
          </a:p>
        </p:txBody>
      </p:sp>
      <p:sp>
        <p:nvSpPr>
          <p:cNvPr id="17" name="Text 15"/>
          <p:cNvSpPr/>
          <p:nvPr/>
        </p:nvSpPr>
        <p:spPr>
          <a:xfrm>
            <a:off x="777240" y="4480560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400" b="1" noProof="0" dirty="0">
                <a:solidFill>
                  <a:srgbClr val="EA1D2C"/>
                </a:solidFill>
              </a:rPr>
              <a:t>quality_log persistido</a:t>
            </a:r>
            <a:endParaRPr lang="pt-BR" sz="1400" noProof="0" dirty="0"/>
          </a:p>
        </p:txBody>
      </p:sp>
      <p:sp>
        <p:nvSpPr>
          <p:cNvPr id="18" name="Text 16"/>
          <p:cNvSpPr/>
          <p:nvPr/>
        </p:nvSpPr>
        <p:spPr>
          <a:xfrm>
            <a:off x="777240" y="4846320"/>
            <a:ext cx="4983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pt-BR" sz="1200" noProof="0" dirty="0">
                <a:solidFill>
                  <a:srgbClr val="1A1A1A"/>
                </a:solidFill>
              </a:rPr>
              <a:t>Governance continua e auditável, não pontual</a:t>
            </a:r>
            <a:endParaRPr lang="pt-BR" sz="1200" noProof="0" dirty="0"/>
          </a:p>
        </p:txBody>
      </p:sp>
      <p:sp>
        <p:nvSpPr>
          <p:cNvPr id="19" name="Shape 17"/>
          <p:cNvSpPr/>
          <p:nvPr/>
        </p:nvSpPr>
        <p:spPr>
          <a:xfrm>
            <a:off x="6172200" y="4343400"/>
            <a:ext cx="5394960" cy="1143000"/>
          </a:xfrm>
          <a:prstGeom prst="roundRect">
            <a:avLst>
              <a:gd name="adj" fmla="val 4800"/>
            </a:avLst>
          </a:prstGeom>
          <a:solidFill>
            <a:srgbClr val="F4F4F4"/>
          </a:solidFill>
          <a:ln/>
        </p:spPr>
        <p:txBody>
          <a:bodyPr/>
          <a:lstStyle/>
          <a:p>
            <a:endParaRPr lang="pt-BR" noProof="0" dirty="0"/>
          </a:p>
        </p:txBody>
      </p:sp>
      <p:sp>
        <p:nvSpPr>
          <p:cNvPr id="20" name="Text 18"/>
          <p:cNvSpPr/>
          <p:nvPr/>
        </p:nvSpPr>
        <p:spPr>
          <a:xfrm>
            <a:off x="6400800" y="4480560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400" b="1" noProof="0" dirty="0">
                <a:solidFill>
                  <a:srgbClr val="EA1D2C"/>
                </a:solidFill>
              </a:rPr>
              <a:t>Classificação LGPD</a:t>
            </a:r>
            <a:endParaRPr lang="pt-BR" sz="1400" noProof="0" dirty="0"/>
          </a:p>
        </p:txBody>
      </p:sp>
      <p:sp>
        <p:nvSpPr>
          <p:cNvPr id="21" name="Text 19"/>
          <p:cNvSpPr/>
          <p:nvPr/>
        </p:nvSpPr>
        <p:spPr>
          <a:xfrm>
            <a:off x="6400800" y="4846320"/>
            <a:ext cx="4983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pt-BR" sz="1200" noProof="0" dirty="0">
                <a:solidFill>
                  <a:srgbClr val="1A1A1A"/>
                </a:solidFill>
              </a:rPr>
              <a:t>Politicas de acesso por nível de sensibilidade</a:t>
            </a:r>
            <a:endParaRPr lang="pt-BR" sz="1200" noProof="0" dirty="0"/>
          </a:p>
        </p:txBody>
      </p:sp>
      <p:sp>
        <p:nvSpPr>
          <p:cNvPr id="22" name="Text 20"/>
          <p:cNvSpPr/>
          <p:nvPr/>
        </p:nvSpPr>
        <p:spPr>
          <a:xfrm>
            <a:off x="457200" y="649224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pt-BR" sz="900" noProof="0" dirty="0">
                <a:solidFill>
                  <a:srgbClr val="8A8A8A"/>
                </a:solidFill>
              </a:rPr>
              <a:t>Case Data Architect  |  iFood</a:t>
            </a:r>
            <a:endParaRPr lang="pt-BR" sz="900" noProof="0" dirty="0"/>
          </a:p>
        </p:txBody>
      </p:sp>
      <p:sp>
        <p:nvSpPr>
          <p:cNvPr id="23" name="Text 21"/>
          <p:cNvSpPr/>
          <p:nvPr/>
        </p:nvSpPr>
        <p:spPr>
          <a:xfrm>
            <a:off x="11247120" y="649224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pt-BR" sz="900" noProof="0" dirty="0">
                <a:solidFill>
                  <a:srgbClr val="8A8A8A"/>
                </a:solidFill>
              </a:rPr>
              <a:t>12</a:t>
            </a:r>
            <a:endParaRPr lang="pt-BR" sz="900" noProof="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1A1A1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164592"/>
          </a:xfrm>
          <a:prstGeom prst="rect">
            <a:avLst/>
          </a:prstGeom>
          <a:solidFill>
            <a:srgbClr val="EA1D2C"/>
          </a:solidFill>
          <a:ln/>
        </p:spPr>
        <p:txBody>
          <a:bodyPr/>
          <a:lstStyle/>
          <a:p>
            <a:endParaRPr lang="pt-BR" noProof="0" dirty="0"/>
          </a:p>
        </p:txBody>
      </p:sp>
      <p:sp>
        <p:nvSpPr>
          <p:cNvPr id="3" name="Text 1"/>
          <p:cNvSpPr/>
          <p:nvPr/>
        </p:nvSpPr>
        <p:spPr>
          <a:xfrm>
            <a:off x="731520" y="137160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400" b="1" kern="0" spc="600" noProof="0" dirty="0">
                <a:solidFill>
                  <a:srgbClr val="EA1D2C"/>
                </a:solidFill>
              </a:rPr>
              <a:t>RESUMO</a:t>
            </a:r>
            <a:endParaRPr lang="pt-BR" sz="1400" noProof="0" dirty="0"/>
          </a:p>
        </p:txBody>
      </p:sp>
      <p:sp>
        <p:nvSpPr>
          <p:cNvPr id="4" name="Text 2"/>
          <p:cNvSpPr/>
          <p:nvPr/>
        </p:nvSpPr>
        <p:spPr>
          <a:xfrm>
            <a:off x="731520" y="1828800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2700" b="1" noProof="0" dirty="0">
                <a:solidFill>
                  <a:srgbClr val="FFFFFF"/>
                </a:solidFill>
              </a:rPr>
              <a:t>Do dado bruto ao insight, com qualidade e governança</a:t>
            </a:r>
            <a:endParaRPr lang="pt-BR" sz="2700" noProof="0" dirty="0"/>
          </a:p>
        </p:txBody>
      </p:sp>
      <p:sp>
        <p:nvSpPr>
          <p:cNvPr id="5" name="Text 3"/>
          <p:cNvSpPr/>
          <p:nvPr/>
        </p:nvSpPr>
        <p:spPr>
          <a:xfrm>
            <a:off x="822960" y="2834640"/>
            <a:ext cx="1051560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ct val="150000"/>
              </a:lnSpc>
              <a:buSzPct val="100000"/>
              <a:buChar char="•"/>
            </a:pPr>
            <a:r>
              <a:rPr lang="pt-BR" sz="1400" noProof="0" dirty="0">
                <a:solidFill>
                  <a:srgbClr val="E8E8E8"/>
                </a:solidFill>
              </a:rPr>
              <a:t>Pipeline Medallion completo: 16,2 mi linhas ingeridas, 15,3 mi tratadas (94,76%)</a:t>
            </a:r>
            <a:endParaRPr lang="pt-BR" sz="1400" noProof="0" dirty="0"/>
          </a:p>
          <a:p>
            <a:pPr marL="342900" indent="-342900">
              <a:lnSpc>
                <a:spcPct val="150000"/>
              </a:lnSpc>
              <a:buSzPct val="100000"/>
              <a:buChar char="•"/>
            </a:pPr>
            <a:r>
              <a:rPr lang="pt-BR" sz="1400" noProof="0" dirty="0">
                <a:solidFill>
                  <a:srgbClr val="E8E8E8"/>
                </a:solidFill>
              </a:rPr>
              <a:t>Armadilha de schema resolvida com cast explicito - sem depender de config de cluster</a:t>
            </a:r>
            <a:endParaRPr lang="pt-BR" sz="1400" noProof="0" dirty="0"/>
          </a:p>
          <a:p>
            <a:pPr marL="342900" indent="-342900">
              <a:lnSpc>
                <a:spcPct val="150000"/>
              </a:lnSpc>
              <a:buSzPct val="100000"/>
              <a:buChar char="•"/>
            </a:pPr>
            <a:r>
              <a:rPr lang="pt-BR" sz="1400" noProof="0" dirty="0">
                <a:solidFill>
                  <a:srgbClr val="E8E8E8"/>
                </a:solidFill>
              </a:rPr>
              <a:t>Profiling + quality gate + quality_log: governança continua e auditável</a:t>
            </a:r>
            <a:endParaRPr lang="pt-BR" sz="1400" noProof="0" dirty="0"/>
          </a:p>
          <a:p>
            <a:pPr marL="342900" indent="-342900">
              <a:lnSpc>
                <a:spcPct val="150000"/>
              </a:lnSpc>
              <a:buSzPct val="100000"/>
              <a:buChar char="•"/>
            </a:pPr>
            <a:r>
              <a:rPr lang="pt-BR" sz="1400" noProof="0" dirty="0">
                <a:solidFill>
                  <a:srgbClr val="E8E8E8"/>
                </a:solidFill>
              </a:rPr>
              <a:t>Classificação LGPD: total_amount RESTRICTED, derivados PUBLIC</a:t>
            </a:r>
            <a:endParaRPr lang="pt-BR" sz="1400" noProof="0" dirty="0"/>
          </a:p>
          <a:p>
            <a:pPr marL="342900" indent="-342900">
              <a:lnSpc>
                <a:spcPct val="150000"/>
              </a:lnSpc>
              <a:buSzPct val="100000"/>
              <a:buChar char="•"/>
            </a:pPr>
            <a:r>
              <a:rPr lang="pt-BR" sz="1400" noProof="0" dirty="0">
                <a:solidFill>
                  <a:srgbClr val="E8E8E8"/>
                </a:solidFill>
              </a:rPr>
              <a:t>Linhagem (_ingestão_ts) e time travel Delta para auditoria e recuperação</a:t>
            </a:r>
            <a:endParaRPr lang="pt-BR" sz="1400" noProof="0" dirty="0"/>
          </a:p>
          <a:p>
            <a:pPr marL="342900" indent="-342900">
              <a:lnSpc>
                <a:spcPct val="150000"/>
              </a:lnSpc>
              <a:buSzPct val="100000"/>
              <a:buChar char="•"/>
            </a:pPr>
            <a:r>
              <a:rPr lang="pt-BR" sz="1400" noProof="0" dirty="0">
                <a:solidFill>
                  <a:srgbClr val="E8E8E8"/>
                </a:solidFill>
              </a:rPr>
              <a:t>Analises com dados reais: +7,2% ticket, US$ 86,8 mi/mês, insights de demanda</a:t>
            </a:r>
            <a:endParaRPr lang="pt-BR" sz="1400" noProof="0" dirty="0"/>
          </a:p>
        </p:txBody>
      </p:sp>
      <p:sp>
        <p:nvSpPr>
          <p:cNvPr id="6" name="Shape 4"/>
          <p:cNvSpPr/>
          <p:nvPr/>
        </p:nvSpPr>
        <p:spPr>
          <a:xfrm>
            <a:off x="777240" y="5852160"/>
            <a:ext cx="2743200" cy="0"/>
          </a:xfrm>
          <a:prstGeom prst="line">
            <a:avLst/>
          </a:prstGeom>
          <a:noFill/>
          <a:ln w="25400">
            <a:solidFill>
              <a:srgbClr val="EA1D2C"/>
            </a:solidFill>
            <a:prstDash val="solid"/>
          </a:ln>
        </p:spPr>
        <p:txBody>
          <a:bodyPr/>
          <a:lstStyle/>
          <a:p>
            <a:endParaRPr lang="pt-BR" noProof="0" dirty="0"/>
          </a:p>
        </p:txBody>
      </p:sp>
      <p:sp>
        <p:nvSpPr>
          <p:cNvPr id="7" name="Text 5"/>
          <p:cNvSpPr/>
          <p:nvPr/>
        </p:nvSpPr>
        <p:spPr>
          <a:xfrm>
            <a:off x="731520" y="598932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400" b="1" noProof="0" dirty="0">
                <a:solidFill>
                  <a:srgbClr val="EA1D2C"/>
                </a:solidFill>
              </a:rPr>
              <a:t>github.com/carlosnatale/ifood-case</a:t>
            </a:r>
            <a:endParaRPr lang="pt-BR" sz="1400" noProof="0" dirty="0"/>
          </a:p>
        </p:txBody>
      </p:sp>
      <p:sp>
        <p:nvSpPr>
          <p:cNvPr id="8" name="Text 6"/>
          <p:cNvSpPr/>
          <p:nvPr/>
        </p:nvSpPr>
        <p:spPr>
          <a:xfrm>
            <a:off x="731520" y="63550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200" noProof="0" dirty="0">
                <a:solidFill>
                  <a:srgbClr val="9A9A9A"/>
                </a:solidFill>
              </a:rPr>
              <a:t>Carlos Natale</a:t>
            </a:r>
            <a:endParaRPr lang="pt-BR" sz="1200" noProof="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Metadata/LabelInfo.xml><?xml version="1.0" encoding="utf-8"?>
<clbl:labelList xmlns:clbl="http://schemas.microsoft.com/office/2020/mipLabelMetadata">
  <clbl:label id="{4cde0bb8-21e0-4ae3-9906-7ac25165b779}" enabled="1" method="Privileged" siteId="{d852d5cd-724c-4128-8812-ffa5db3f8507}" contentBits="0" removed="0"/>
</clbl:labelList>
</file>

<file path=docProps/app.xml><?xml version="1.0" encoding="utf-8"?>
<Properties xmlns="http://schemas.openxmlformats.org/officeDocument/2006/extended-properties" xmlns:vt="http://schemas.openxmlformats.org/officeDocument/2006/docPropsVTypes">
  <TotalTime>27</TotalTime>
  <Words>1393</Words>
  <Application>Microsoft Office PowerPoint</Application>
  <PresentationFormat>Widescreen</PresentationFormat>
  <Paragraphs>267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Consolas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Case Tecnico Data Architect - iFood</dc:title>
  <dc:subject>PptxGenJS Presentation</dc:subject>
  <dc:creator>Carlos Natale</dc:creator>
  <cp:lastModifiedBy>CARLOS HENRIQUE COTTA NATALE</cp:lastModifiedBy>
  <cp:revision>6</cp:revision>
  <dcterms:created xsi:type="dcterms:W3CDTF">2026-06-29T09:54:24Z</dcterms:created>
  <dcterms:modified xsi:type="dcterms:W3CDTF">2026-06-29T10:49:35Z</dcterms:modified>
</cp:coreProperties>
</file>