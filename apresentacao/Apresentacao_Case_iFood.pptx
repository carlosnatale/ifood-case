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 médio (USD)</c:v>
                </c:pt>
              </c:strCache>
            </c:strRef>
          </c:tx>
          <c:spPr>
            <a:ln w="38100" cap="flat">
              <a:solidFill>
                <a:srgbClr val="EA1D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A1D2C"/>
              </a:solidFill>
              <a:ln w="9525" cap="flat">
                <a:solidFill>
                  <a:srgbClr val="EA1D2C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27.46</c:v>
                </c:pt>
                <c:pt idx="1">
                  <c:v>27.37</c:v>
                </c:pt>
                <c:pt idx="2">
                  <c:v>28.28</c:v>
                </c:pt>
                <c:pt idx="3">
                  <c:v>28.78</c:v>
                </c:pt>
                <c:pt idx="4">
                  <c:v>29.45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B3E-4B80-BA78-1F680382200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26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Média de passageiros</c:v>
                </c:pt>
              </c:strCache>
            </c:strRef>
          </c:tx>
          <c:spPr>
            <a:ln w="31750" cap="flat">
              <a:solidFill>
                <a:srgbClr val="EA1D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A1D2C"/>
              </a:solidFill>
              <a:ln w="9525" cap="flat">
                <a:solidFill>
                  <a:srgbClr val="EA1D2C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0h</c:v>
                </c:pt>
                <c:pt idx="1">
                  <c:v>1h</c:v>
                </c:pt>
                <c:pt idx="2">
                  <c:v>2h</c:v>
                </c:pt>
                <c:pt idx="3">
                  <c:v>3h</c:v>
                </c:pt>
                <c:pt idx="4">
                  <c:v>4h</c:v>
                </c:pt>
                <c:pt idx="5">
                  <c:v>5h</c:v>
                </c:pt>
                <c:pt idx="6">
                  <c:v>6h</c:v>
                </c:pt>
                <c:pt idx="7">
                  <c:v>7h</c:v>
                </c:pt>
                <c:pt idx="8">
                  <c:v>8h</c:v>
                </c:pt>
                <c:pt idx="9">
                  <c:v>9h</c:v>
                </c:pt>
                <c:pt idx="10">
                  <c:v>10h</c:v>
                </c:pt>
                <c:pt idx="11">
                  <c:v>11h</c:v>
                </c:pt>
                <c:pt idx="12">
                  <c:v>12h</c:v>
                </c:pt>
                <c:pt idx="13">
                  <c:v>13h</c:v>
                </c:pt>
                <c:pt idx="14">
                  <c:v>14h</c:v>
                </c:pt>
                <c:pt idx="15">
                  <c:v>15h</c:v>
                </c:pt>
                <c:pt idx="16">
                  <c:v>16h</c:v>
                </c:pt>
                <c:pt idx="17">
                  <c:v>17h</c:v>
                </c:pt>
                <c:pt idx="18">
                  <c:v>18h</c:v>
                </c:pt>
                <c:pt idx="19">
                  <c:v>19h</c:v>
                </c:pt>
                <c:pt idx="20">
                  <c:v>20h</c:v>
                </c:pt>
                <c:pt idx="21">
                  <c:v>21h</c:v>
                </c:pt>
                <c:pt idx="22">
                  <c:v>22h</c:v>
                </c:pt>
                <c:pt idx="23">
                  <c:v>23h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1.43</c:v>
                </c:pt>
                <c:pt idx="1">
                  <c:v>1.44</c:v>
                </c:pt>
                <c:pt idx="2">
                  <c:v>1.46</c:v>
                </c:pt>
                <c:pt idx="3">
                  <c:v>1.45</c:v>
                </c:pt>
                <c:pt idx="4">
                  <c:v>1.4</c:v>
                </c:pt>
                <c:pt idx="5">
                  <c:v>1.28</c:v>
                </c:pt>
                <c:pt idx="6">
                  <c:v>1.26</c:v>
                </c:pt>
                <c:pt idx="7">
                  <c:v>1.28</c:v>
                </c:pt>
                <c:pt idx="8">
                  <c:v>1.3</c:v>
                </c:pt>
                <c:pt idx="9">
                  <c:v>1.31</c:v>
                </c:pt>
                <c:pt idx="10">
                  <c:v>1.35</c:v>
                </c:pt>
                <c:pt idx="11">
                  <c:v>1.36</c:v>
                </c:pt>
                <c:pt idx="12">
                  <c:v>1.38</c:v>
                </c:pt>
                <c:pt idx="13">
                  <c:v>1.39</c:v>
                </c:pt>
                <c:pt idx="14">
                  <c:v>1.39</c:v>
                </c:pt>
                <c:pt idx="15">
                  <c:v>1.4</c:v>
                </c:pt>
                <c:pt idx="16">
                  <c:v>1.4</c:v>
                </c:pt>
                <c:pt idx="17">
                  <c:v>1.39</c:v>
                </c:pt>
                <c:pt idx="18">
                  <c:v>1.38</c:v>
                </c:pt>
                <c:pt idx="19">
                  <c:v>1.39</c:v>
                </c:pt>
                <c:pt idx="20">
                  <c:v>1.4</c:v>
                </c:pt>
                <c:pt idx="21">
                  <c:v>1.42</c:v>
                </c:pt>
                <c:pt idx="22">
                  <c:v>1.43</c:v>
                </c:pt>
                <c:pt idx="23">
                  <c:v>1.42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AC3-456F-83DC-245103EB0A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5"/>
          <c:min val="1.2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Corridas</c:v>
                </c:pt>
              </c:strCache>
            </c:strRef>
          </c:tx>
          <c:spPr>
            <a:solidFill>
              <a:srgbClr val="EA1D2C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0h</c:v>
                </c:pt>
                <c:pt idx="1">
                  <c:v>1h</c:v>
                </c:pt>
                <c:pt idx="2">
                  <c:v>2h</c:v>
                </c:pt>
                <c:pt idx="3">
                  <c:v>3h</c:v>
                </c:pt>
                <c:pt idx="4">
                  <c:v>4h</c:v>
                </c:pt>
                <c:pt idx="5">
                  <c:v>5h</c:v>
                </c:pt>
                <c:pt idx="6">
                  <c:v>6h</c:v>
                </c:pt>
                <c:pt idx="7">
                  <c:v>7h</c:v>
                </c:pt>
                <c:pt idx="8">
                  <c:v>8h</c:v>
                </c:pt>
                <c:pt idx="9">
                  <c:v>9h</c:v>
                </c:pt>
                <c:pt idx="10">
                  <c:v>10h</c:v>
                </c:pt>
                <c:pt idx="11">
                  <c:v>11h</c:v>
                </c:pt>
                <c:pt idx="12">
                  <c:v>12h</c:v>
                </c:pt>
                <c:pt idx="13">
                  <c:v>13h</c:v>
                </c:pt>
                <c:pt idx="14">
                  <c:v>14h</c:v>
                </c:pt>
                <c:pt idx="15">
                  <c:v>15h</c:v>
                </c:pt>
                <c:pt idx="16">
                  <c:v>16h</c:v>
                </c:pt>
                <c:pt idx="17">
                  <c:v>17h</c:v>
                </c:pt>
                <c:pt idx="18">
                  <c:v>18h</c:v>
                </c:pt>
                <c:pt idx="19">
                  <c:v>19h</c:v>
                </c:pt>
                <c:pt idx="20">
                  <c:v>20h</c:v>
                </c:pt>
                <c:pt idx="21">
                  <c:v>21h</c:v>
                </c:pt>
                <c:pt idx="22">
                  <c:v>22h</c:v>
                </c:pt>
                <c:pt idx="23">
                  <c:v>23h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88547</c:v>
                </c:pt>
                <c:pt idx="1">
                  <c:v>57501</c:v>
                </c:pt>
                <c:pt idx="2">
                  <c:v>37001</c:v>
                </c:pt>
                <c:pt idx="3">
                  <c:v>24073</c:v>
                </c:pt>
                <c:pt idx="4">
                  <c:v>15726</c:v>
                </c:pt>
                <c:pt idx="5">
                  <c:v>18186</c:v>
                </c:pt>
                <c:pt idx="6">
                  <c:v>45431</c:v>
                </c:pt>
                <c:pt idx="7">
                  <c:v>91710</c:v>
                </c:pt>
                <c:pt idx="8">
                  <c:v>125390</c:v>
                </c:pt>
                <c:pt idx="9">
                  <c:v>140792</c:v>
                </c:pt>
                <c:pt idx="10">
                  <c:v>153473</c:v>
                </c:pt>
                <c:pt idx="11">
                  <c:v>167229</c:v>
                </c:pt>
                <c:pt idx="12">
                  <c:v>180326</c:v>
                </c:pt>
                <c:pt idx="13">
                  <c:v>184462</c:v>
                </c:pt>
                <c:pt idx="14">
                  <c:v>200572</c:v>
                </c:pt>
                <c:pt idx="15">
                  <c:v>204870</c:v>
                </c:pt>
                <c:pt idx="16">
                  <c:v>204992</c:v>
                </c:pt>
                <c:pt idx="17">
                  <c:v>223959</c:v>
                </c:pt>
                <c:pt idx="18">
                  <c:v>237971</c:v>
                </c:pt>
                <c:pt idx="19">
                  <c:v>213682</c:v>
                </c:pt>
                <c:pt idx="20">
                  <c:v>189914</c:v>
                </c:pt>
                <c:pt idx="21">
                  <c:v>194116</c:v>
                </c:pt>
                <c:pt idx="22">
                  <c:v>179479</c:v>
                </c:pt>
                <c:pt idx="23">
                  <c:v>139995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5D-4CCD-90F9-C39916279E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5652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A1D2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EA1D2C"/>
                </a:solidFill>
              </a:rPr>
              <a:t>CASE TÉCNICO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Data Architect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CFCF"/>
                </a:solidFill>
              </a:rPr>
              <a:t>Ingestão, modelagem e análise de corridas de táxi de NY (NYC TLC)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CFCF"/>
                </a:solidFill>
              </a:rPr>
              <a:t>Arquitetura Medallion em Delta Lake  ·  PySpark + SQL  ·  Databricks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5029200"/>
            <a:ext cx="292608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5166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Carlos Natale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532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9A"/>
                </a:solidFill>
              </a:rPr>
              <a:t>Engenharia de Dados · Governança · 20+ anos em TI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 desafio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965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O que o case pede e como foi atendido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Arquitetura da solução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Medallion em Delta Lake, do raw ao consumo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91256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91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1729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Pipeline passo a passo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4655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Ingestão PySpark, Silver e Gold em SQL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941064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92277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Decisões técnicas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2153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Por que cada escolha, e a armadilha do schema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6725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Resultados das análises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80160" y="4965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Respostas às duas perguntas e insights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80160" y="54223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Qualidade e evolução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5715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Governança, data quality e próximos passos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1. O DESAFIO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 que o case pede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47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Ingestão no Data Lake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Corridas de táxi de NY, jan a mai/2023, usando PySpark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87121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Disponibilização via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Dados prontos para consumo pelos usuários finais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85616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9534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5 colunas obrigatórias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4242816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VendorID, passenger_count, total_amount, pickup e dropoff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809744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9194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Análises de negócio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5266944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Média de faturamento mensal e de passageiros por hora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0" y="1737360"/>
            <a:ext cx="3840480" cy="4160520"/>
          </a:xfrm>
          <a:prstGeom prst="roundRect">
            <a:avLst>
              <a:gd name="adj" fmla="val 1905"/>
            </a:avLst>
          </a:pr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8001000" y="1920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1D2C"/>
                </a:solidFill>
              </a:rPr>
              <a:t>CRITÉRIOS DE AVALIAÇÃO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92440" y="237744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Qualidade e organização do código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Processo de análise exploratória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Justificativa das escolhas técnicas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Criatividade na solução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Clareza na comunicação dos resultados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2. ARQUITETURA DA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Medallion em Delta Lake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</a:rPr>
              <a:t>LANDING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Parquets originais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intactos (Volume)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63240" y="246888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A8A8A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7472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ADBD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7472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Raw em Delta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+ linhagem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246888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A8A8A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40080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5B7B1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</a:rPr>
              <a:t>SILVER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Limpo, tipado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particionado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15400" y="246888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A8A8A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2688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EA1D2C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Consumo e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métricas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8892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A1D2C"/>
                </a:solidFill>
              </a:rPr>
              <a:t>PySpark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A1D2C"/>
                </a:solidFill>
              </a:rPr>
              <a:t>SQL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7824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A1D2C"/>
                </a:solidFill>
              </a:rPr>
              <a:t>SQL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</a:rPr>
              <a:t>Por que essa arquitetura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Separação de responsabilidades por camada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Reprocessamento sem tocar na fonte original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Delta Lake: ACID, time travel e schema enforcement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Rastreabilidade de ponta a ponta (governança)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3. PIPELINE 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Da fonte ao consumo em 4 etapas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373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Setup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2585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Catálogo Unity, 3 schemas e Volume da landing zone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0" y="203911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0" y="20391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971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Ingestão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33101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Download dos 5 Parquets + Bronze em Delta (16,2 mi linhas)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58400" y="309067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1A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30906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PySpark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233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Silver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37360" y="4361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Limpeza, tipagem e colunas obrigatórias (15,3 mi linhas)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58400" y="414223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41422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SQL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0749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37360" y="5056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Gold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37360" y="54132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Tabelas de consumo: receita mensal e passageiros/hora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058400" y="519379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0" y="51937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SQL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4. DECISÕES TÉCNICAS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 armadilha do schema (e como resolvi)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DECE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O PROBLEMA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Os Parquets do TLC têm tipos divergentes entre meses: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A1A1A"/>
                </a:solidFill>
              </a:rPr>
              <a:t>passenger_count e congestion_surcharge aparecem como INT em alguns arquivos e DOUBLE em outros.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Impor um schema na leitura não resolve: o leitor vetorizado do Spark recusa o cast INT→DOUBLE.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 config enableVectorizedReader=false não existe no serverless da Free Edition.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7A3E"/>
                </a:solidFill>
              </a:rPr>
              <a:t>A SOLUÇÃO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286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Ler cada arquivo individualmente, aplicar .cast() explícito em todas as colunas e unir com unionByName.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3291840"/>
            <a:ext cx="4937760" cy="173736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lIns="101600" tIns="101600" rIns="101600" bIns="10160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arquivos: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spark.read.parquet(path).select(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F.col("passenger_count").cast("double"),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reduce(unionByName, dfs)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B7A3E"/>
                </a:solidFill>
              </a:rPr>
              <a:t>Funciona independente de tipo físico e de config de cluster.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4. DECISÕES TÉCNICAS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Outras escolhas e suas justificativas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Delta Lake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ACID, time travel e schema enforcement nativos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SQL no consumo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Linguagem universal, legível e manutenível para o usuário final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Particionar por ano_mes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61188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Acelera as queries analíticas, quase sempre filtradas por mês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Filtro por pickup_datetime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61188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Remove datas vazadas de outros meses presentes nos arquivos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Coluna _ingestao_ts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9377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Linhagem: auditoria de quando cada batch foi ingerido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Duas interpretações P1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49377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Enunciado ambíguo; responder ambas demonstra rigor analítico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5. RESULTADOS DAS ANÁLISES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Pergunta 1: faturamento por mês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</a:rPr>
              <a:t>Média do valor por corrida (total_amount), por mês — todos os yellow taxis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68580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DECEA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21945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A1D2C"/>
                </a:solidFill>
              </a:rPr>
              <a:t>+7,2%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0" y="2971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</a:rPr>
              <a:t>alta do ticket médio de jan a mai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0" y="388620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4114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USD 86,8 mi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0" y="47548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CFCFCF"/>
                </a:solidFill>
              </a:rPr>
              <a:t>receita média mensal da frota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CFCFCF"/>
                </a:solidFill>
              </a:rPr>
              <a:t>(interpretação alternativa)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5. RESULTADOS DAS ANÁLISES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Pergunta 2: passageiros por hora (maio)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</a:rPr>
              <a:t>Média de passageiros por hora do embarque — todos os táxis, maio/2023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65960"/>
          <a:ext cx="110642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1D2C"/>
                </a:solidFill>
              </a:rPr>
              <a:t>Pico noturno (00h–03h): </a:t>
            </a:r>
            <a:r>
              <a:rPr lang="en-US" sz="1200" dirty="0">
                <a:solidFill>
                  <a:srgbClr val="1A1A1A"/>
                </a:solidFill>
              </a:rPr>
              <a:t>1,43–1,46 — grupos saindo da vida noturna.    </a:t>
            </a:r>
            <a:r>
              <a:rPr lang="en-US" sz="1200" b="1" dirty="0">
                <a:solidFill>
                  <a:srgbClr val="EA1D2C"/>
                </a:solidFill>
              </a:rPr>
              <a:t>Vale matinal (06h–07h): </a:t>
            </a:r>
            <a:r>
              <a:rPr lang="en-US" sz="1200" dirty="0">
                <a:solidFill>
                  <a:srgbClr val="1A1A1A"/>
                </a:solidFill>
              </a:rPr>
              <a:t>1,26 — deslocamentos individuais de trabalho.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</a:rPr>
              <a:t>Banda estreita (1,26 a 1,46) o dia todo: o yellow taxi de NY é majoritariamente um modal individual.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5. RESULTADOS DAS ANÁLISES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Volume de corridas por hora (maio)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</a:rPr>
              <a:t>Quantidade de corridas por hora do embarque — revela a dinâmica de demanda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65960"/>
          <a:ext cx="11064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A1D2C"/>
                </a:solidFill>
              </a:rPr>
              <a:t>Pico de demanda às 18h: </a:t>
            </a:r>
            <a:r>
              <a:rPr lang="en-US" sz="1200" dirty="0">
                <a:solidFill>
                  <a:srgbClr val="1A1A1A"/>
                </a:solidFill>
              </a:rPr>
              <a:t>237.971 corridas (saída do trabalho), mas com média de passageiros baixa (1,38) — viagens individuais.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6. QUALIDADE E EVOLUÇÃO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Qualidade de dados e governança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F4F4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QUALITY GATE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Após a limpeza, nenhuma linha viola as regras de negócio: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7A3E"/>
                </a:solidFill>
              </a:rPr>
              <a:t>0</a:t>
            </a:r>
            <a:r>
              <a:rPr lang="en-US" sz="1200" dirty="0">
                <a:solidFill>
                  <a:srgbClr val="1A1A1A"/>
                </a:solidFill>
              </a:rPr>
              <a:t>  valores negativos      </a:t>
            </a:r>
            <a:r>
              <a:rPr lang="en-US" sz="3000" b="1" dirty="0">
                <a:solidFill>
                  <a:srgbClr val="1B7A3E"/>
                </a:solidFill>
              </a:rPr>
              <a:t>0</a:t>
            </a:r>
            <a:r>
              <a:rPr lang="en-US" sz="1200" dirty="0">
                <a:solidFill>
                  <a:srgbClr val="1A1A1A"/>
                </a:solidFill>
              </a:rPr>
              <a:t>  passageiros = 0      </a:t>
            </a:r>
            <a:r>
              <a:rPr lang="en-US" sz="3000" b="1" dirty="0">
                <a:solidFill>
                  <a:srgbClr val="1B7A3E"/>
                </a:solidFill>
              </a:rPr>
              <a:t>0</a:t>
            </a:r>
            <a:r>
              <a:rPr lang="en-US" sz="1200" dirty="0">
                <a:solidFill>
                  <a:srgbClr val="1A1A1A"/>
                </a:solidFill>
              </a:rPr>
              <a:t>  timestamps inválidos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4F4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REGRAS DE LIMPEZA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3317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total_amount &gt;= 0 (remove estornos)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passenger_count &gt; 0 (corridas válidas)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dropoff &gt; pickup (timestamps coerentes)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Janela jan–mai/2023 (datas vazadas)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GOVERNANÇA E LINHAGEM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Cada registro na Bronze carrega _ingestao_ts e a origem do arquivo, permitindo auditoria de quando e de onde o dado veio.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A separação por camadas (Bronze/Silver/Gold) torna explícito quem pode acessar o quê e em que nível de tratamento — base para políticas de governança.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6. QUALIDADE E EVOLUÇÃO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Como isso escala em produção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7647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Orquestração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54880" y="17373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As 4 etapas viram um Job/Workflow Databricks com agendamento mensal automático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06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27249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Data Quality declarativa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6974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Expectativas via Lakeflow / DLT (EXPECT) com quarentena de registros ruins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685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Incremental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36576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Ingestão incremental por mês em vez de overwrite, com MERGE idempotente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626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46451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Catálogo e acesso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4617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Unity Catalog com controle de acesso por papel e classificação de dados sensíveis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A1D2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EA1D2C"/>
                </a:solidFill>
              </a:rPr>
              <a:t>RESUMO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Solução completa, validada e aderente ao case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Pipeline Medallion de ponta a ponta: 16,2 mi de linhas ingeridas, 15,3 mi tratadas</a:t>
            </a:r>
            <a:endParaRPr lang="en-US" sz="16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PySpark na ingestão, SQL no consumo — com a armadilha de schema resolvida</a:t>
            </a:r>
            <a:endParaRPr lang="en-US" sz="16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As duas perguntas respondidas com dados reais e insights de negócio</a:t>
            </a:r>
            <a:endParaRPr lang="en-US" sz="16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Quality gate zerado e linhagem para governança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5394960"/>
            <a:ext cx="274320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github.com/carlosnatale/ifood-case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9A9A"/>
                </a:solidFill>
              </a:rPr>
              <a:t>Carlos Natale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de0bb8-21e0-4ae3-9906-7ac25165b779}" enabled="1" method="Privileged" siteId="{d852d5cd-724c-4128-8812-ffa5db3f850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1116</Words>
  <Application>Microsoft Office PowerPoint</Application>
  <PresentationFormat>Widescreen</PresentationFormat>
  <Paragraphs>202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Técnico Data Architect - iFood</dc:title>
  <dc:subject>PptxGenJS Presentation</dc:subject>
  <dc:creator>Carlos Natale</dc:creator>
  <cp:lastModifiedBy>CARLOS HENRIQUE COTTA NATALE</cp:lastModifiedBy>
  <cp:revision>2</cp:revision>
  <dcterms:created xsi:type="dcterms:W3CDTF">2026-06-26T11:24:00Z</dcterms:created>
  <dcterms:modified xsi:type="dcterms:W3CDTF">2026-06-26T12:58:34Z</dcterms:modified>
</cp:coreProperties>
</file>